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303" r:id="rId3"/>
    <p:sldId id="261" r:id="rId4"/>
    <p:sldId id="289" r:id="rId5"/>
    <p:sldId id="290" r:id="rId6"/>
    <p:sldId id="291" r:id="rId7"/>
    <p:sldId id="292" r:id="rId8"/>
    <p:sldId id="259" r:id="rId9"/>
    <p:sldId id="293" r:id="rId10"/>
    <p:sldId id="295" r:id="rId11"/>
    <p:sldId id="294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4" r:id="rId2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libri Light" panose="020F0302020204030204" pitchFamily="34" charset="0"/>
      <p:regular r:id="rId26"/>
      <p:italic r:id="rId27"/>
    </p:embeddedFont>
    <p:embeddedFont>
      <p:font typeface="Dosis Light" panose="020B0604020202020204" charset="0"/>
      <p:regular r:id="rId28"/>
      <p:bold r:id="rId29"/>
    </p:embeddedFont>
    <p:embeddedFont>
      <p:font typeface="Dubai Light" panose="020B0303030403030204" pitchFamily="34" charset="-78"/>
      <p:regular r:id="rId30"/>
    </p:embeddedFont>
    <p:embeddedFont>
      <p:font typeface="Titillium Web Light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859F"/>
    <a:srgbClr val="0B87A1"/>
    <a:srgbClr val="01597F"/>
    <a:srgbClr val="D1E7D3"/>
    <a:srgbClr val="7EBDB5"/>
    <a:srgbClr val="ADCBE2"/>
    <a:srgbClr val="D3EBD5"/>
    <a:srgbClr val="80BFB7"/>
    <a:srgbClr val="FFFFF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542A9D-0070-40B6-BA9D-FFE80FE204AF}">
  <a:tblStyle styleId="{BB542A9D-0070-40B6-BA9D-FFE80FE204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Colonna1</c:v>
                </c:pt>
              </c:strCache>
            </c:strRef>
          </c:tx>
          <c:spPr>
            <a:solidFill>
              <a:srgbClr val="01597F"/>
            </a:solidFill>
          </c:spPr>
          <c:dPt>
            <c:idx val="0"/>
            <c:bubble3D val="0"/>
            <c:spPr>
              <a:solidFill>
                <a:srgbClr val="80BFB7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7A63-427F-9614-18126E31F825}"/>
              </c:ext>
            </c:extLst>
          </c:dPt>
          <c:dPt>
            <c:idx val="1"/>
            <c:bubble3D val="0"/>
            <c:spPr>
              <a:solidFill>
                <a:srgbClr val="01597F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7A63-427F-9614-18126E31F825}"/>
              </c:ext>
            </c:extLst>
          </c:dPt>
          <c:dPt>
            <c:idx val="2"/>
            <c:bubble3D val="0"/>
            <c:explosion val="14"/>
            <c:spPr>
              <a:solidFill>
                <a:srgbClr val="0B87A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7A63-427F-9614-18126E31F825}"/>
              </c:ext>
            </c:extLst>
          </c:dPt>
          <c:dPt>
            <c:idx val="3"/>
            <c:bubble3D val="0"/>
            <c:spPr>
              <a:solidFill>
                <a:srgbClr val="01597F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7A63-427F-9614-18126E31F825}"/>
              </c:ext>
            </c:extLst>
          </c:dPt>
          <c:dLbls>
            <c:dLbl>
              <c:idx val="0"/>
              <c:layout>
                <c:manualLayout>
                  <c:x val="-0.24083896404457755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spc="0" baseline="0">
                      <a:solidFill>
                        <a:srgbClr val="7EBDB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417709732847964"/>
                      <c:h val="0.2023758287616380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A63-427F-9614-18126E31F825}"/>
                </c:ext>
              </c:extLst>
            </c:dLbl>
            <c:dLbl>
              <c:idx val="1"/>
              <c:layout>
                <c:manualLayout>
                  <c:x val="9.9931911829435283E-2"/>
                  <c:y val="4.691907713827689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spc="0" baseline="0">
                      <a:solidFill>
                        <a:srgbClr val="01597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66989426294134"/>
                      <c:h val="0.2023758250442891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A63-427F-9614-18126E31F825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spc="0" baseline="0">
                      <a:solidFill>
                        <a:srgbClr val="0A859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7A63-427F-9614-18126E31F82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7A63-427F-9614-18126E31F8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ipotiroidismo</c:v>
                </c:pt>
                <c:pt idx="1">
                  <c:v>ipertiroidismo</c:v>
                </c:pt>
                <c:pt idx="2">
                  <c:v>normale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0.02</c:v>
                </c:pt>
                <c:pt idx="1">
                  <c:v>0.05</c:v>
                </c:pt>
                <c:pt idx="2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A63-427F-9614-18126E31F825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6449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Shape 38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Shape 38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9534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62782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2500" dirty="0"/>
              <a:t>SBILANCIAMENTO</a:t>
            </a:r>
          </a:p>
        </p:txBody>
      </p:sp>
    </p:spTree>
    <p:extLst>
      <p:ext uri="{BB962C8B-B14F-4D97-AF65-F5344CB8AC3E}">
        <p14:creationId xmlns:p14="http://schemas.microsoft.com/office/powerpoint/2010/main" val="2082683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 di CRAMER</a:t>
            </a:r>
          </a:p>
        </p:txBody>
      </p:sp>
    </p:spTree>
    <p:extLst>
      <p:ext uri="{BB962C8B-B14F-4D97-AF65-F5344CB8AC3E}">
        <p14:creationId xmlns:p14="http://schemas.microsoft.com/office/powerpoint/2010/main" val="3053845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Shape 38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6" name="Shape 38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205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0816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41345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Shape 38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6" name="Shape 38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96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Shape 38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6" name="Shape 38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9135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5" name="Shape 40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6" name="Shape 40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670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527"/>
          <p:cNvSpPr txBox="1">
            <a:spLocks noGrp="1"/>
          </p:cNvSpPr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28" name="Shape 528"/>
          <p:cNvSpPr txBox="1">
            <a:spLocks noGrp="1"/>
          </p:cNvSpPr>
          <p:nvPr>
            <p:ph type="subTitle" idx="1"/>
          </p:nvPr>
        </p:nvSpPr>
        <p:spPr>
          <a:xfrm>
            <a:off x="685800" y="3983055"/>
            <a:ext cx="52689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2400"/>
              <a:buNone/>
              <a:defRPr>
                <a:solidFill>
                  <a:srgbClr val="80BF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9pPr>
          </a:lstStyle>
          <a:p>
            <a:endParaRPr/>
          </a:p>
        </p:txBody>
      </p:sp>
      <p:grpSp>
        <p:nvGrpSpPr>
          <p:cNvPr id="529" name="Shape 529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530" name="Shape 530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Shape 531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Shape 53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Shape 53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Shape 534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Shape 535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Shape 536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Shape 537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Shape 538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Shape 539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Shape 540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Shape 541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Shape 54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Shape 54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Shape 544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Shape 545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Shape 546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Shape 547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Shape 548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Shape 549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Shape 550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Shape 551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Shape 55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Shape 55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Shape 554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Shape 555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Shape 556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Shape 557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Shape 558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Shape 559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Shape 560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Shape 561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Shape 56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Shape 56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Shape 564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Shape 565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Shape 566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Shape 567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Shape 568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Shape 569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Shape 570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Shape 571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Shape 57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Shape 57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Shape 574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Shape 575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Shape 576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Shape 577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Shape 578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Shape 579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Shape 580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Shape 581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Shape 58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Shape 58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Shape 584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Shape 585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Shape 586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Shape 587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Shape 588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Shape 589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Shape 590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Shape 591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Shape 59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Shape 59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Shape 594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Shape 595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Shape 596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Shape 597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Shape 598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Shape 599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Shape 600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Shape 601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Shape 60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Shape 60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Shape 604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Shape 605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Shape 606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Shape 607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Shape 608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Shape 609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" name="Shape 610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611" name="Shape 611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Shape 61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Shape 61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Shape 614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Shape 615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Shape 616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Shape 617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Shape 618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Shape 619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Shape 620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Shape 621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Shape 62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Shape 62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Shape 624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Shape 625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Shape 626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Shape 627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Shape 628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Shape 629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Shape 630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Shape 631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Shape 63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Shape 63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Shape 634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Shape 635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Shape 636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Shape 637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Shape 638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Shape 639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Shape 640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Shape 641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Shape 64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Shape 64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Shape 644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Shape 645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Shape 646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Shape 647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Shape 648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Shape 649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Shape 650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Shape 651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Shape 65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Shape 65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Shape 654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Shape 655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Shape 656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Shape 657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Shape 658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Shape 659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Shape 660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Shape 661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Shape 66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Shape 66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Shape 664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Shape 665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Shape 666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Shape 667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Shape 668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Shape 669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Shape 670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Shape 671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Shape 67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Shape 67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Shape 674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Shape 675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Shape 676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Shape 677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Shape 678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Shape 679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Shape 680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Shape 681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Shape 68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Shape 68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Shape 684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Shape 685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Shape 686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Shape 687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Shape 688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Shape 689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Shape 690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Shape 691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Shape 69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Shape 69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Shape 694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Shape 695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Shape 696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Shape 697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Shape 698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Shape 699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Shape 700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Shape 701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Shape 70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Shape 70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Shape 704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Shape 705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Shape 706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Shape 707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Shape 708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Shape 709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Shape 710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Shape 711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Shape 71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Shape 71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Shape 714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Shape 715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Shape 716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Shape 717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Shape 718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Shape 719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Shape 720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Shape 721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Shape 72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Shape 72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Shape 724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Shape 725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Shape 726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Shape 727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Shape 728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Shape 729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Shape 730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731" name="Shape 731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Shape 73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Shape 73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Shape 734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Shape 735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Shape 736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Shape 737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Shape 738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Shape 739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Shape 740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Shape 741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Shape 74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Shape 74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Shape 744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Shape 745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Shape 746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Shape 747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Shape 748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Shape 749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Shape 750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Shape 751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Shape 75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Shape 75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Shape 754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Shape 755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Shape 756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Shape 757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Shape 758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Shape 759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Shape 760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Shape 761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Shape 76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Shape 76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Shape 764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Shape 765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Shape 766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Shape 767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Shape 768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Shape 769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Shape 770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Shape 771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Shape 77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Shape 77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Shape 774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Shape 775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Shape 776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Shape 777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Shape 778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Shape 779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Shape 780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Shape 781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Shape 78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Shape 78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Shape 784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Shape 785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Shape 786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Shape 787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Shape 788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Shape 789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Shape 790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Shape 791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Shape 79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Shape 79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Shape 794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Shape 795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Shape 796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Shape 797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Shape 798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Shape 799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Shape 800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Shape 801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Shape 80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Shape 80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Shape 804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Shape 805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Shape 806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Shape 807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Shape 808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Shape 809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Shape 810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Shape 811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Shape 81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Shape 81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Shape 814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Shape 815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Shape 816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Shape 817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Shape 818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Shape 819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Shape 820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Shape 821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Shape 82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Shape 82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Shape 824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Shape 825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Shape 826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Shape 827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Shape 828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Shape 829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Shape 830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Shape 831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Shape 83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Shape 83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Shape 834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Shape 835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Shape 836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Shape 837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Shape 838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Shape 839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Shape 840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Shape 841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Shape 84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Shape 84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Shape 844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Shape 845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Shape 846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Shape 847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Shape 848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Shape 849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Shape 850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Shape 851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Shape 85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Shape 85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Shape 854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Shape 855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Shape 856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Shape 857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Shape 858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Shape 859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Shape 860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Shape 861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Shape 86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Shape 86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Shape 864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Shape 865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Shape 866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Shape 867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Shape 868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Shape 869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Shape 870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Shape 871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Shape 87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Shape 87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Shape 874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Shape 875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Shape 876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Shape 877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Shape 878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Shape 879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Shape 880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Shape 881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Shape 88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Shape 88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Shape 884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Shape 885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Shape 886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Shape 887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Shape 888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Shape 889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Shape 890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Shape 891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Shape 89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Shape 89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Shape 894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Shape 895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Shape 896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Shape 897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Shape 898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Shape 899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Shape 900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Shape 901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Shape 90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Shape 90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Shape 904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Shape 905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Shape 906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Shape 907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Shape 908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Shape 909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Shape 910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Shape 911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Shape 91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Shape 91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Shape 914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Shape 915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Shape 916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Shape 917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Shape 918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Shape 919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Shape 920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Shape 921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Shape 92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Shape 92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Shape 924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Shape 925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Shape 926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Shape 927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Shape 928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Shape 929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Shape 930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Shape 931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Shape 93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Shape 93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Shape 934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Shape 935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Shape 936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Shape 937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Shape 938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Shape 939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0" name="Shape 940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941" name="Shape 941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Shape 94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Shape 94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Shape 944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Shape 945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Shape 946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Shape 947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Shape 948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Shape 949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Shape 950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Shape 951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Shape 95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Shape 95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Shape 954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Shape 955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Shape 956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Shape 957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Shape 958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Shape 959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Shape 960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Shape 961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Shape 96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Shape 96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Shape 964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Shape 965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Shape 966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Shape 967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Shape 968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Shape 969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Shape 970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Shape 971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Shape 97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Shape 97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Shape 974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Shape 975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Shape 976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Shape 977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Shape 978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Shape 979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Shape 980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Shape 981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Shape 98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Shape 98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Shape 984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Shape 985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Shape 986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Shape 987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Shape 988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Shape 989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Shape 990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Shape 991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Shape 99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Shape 99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Shape 994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Shape 995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Shape 996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Shape 997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Shape 998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Shape 999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Shape 1000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Shape 1001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Shape 100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Shape 100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Shape 1004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Shape 1005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Shape 1006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Shape 1007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Shape 1008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Shape 1009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Shape 1010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Shape 1011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Shape 101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Shape 101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Shape 1014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Shape 1015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Shape 1016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Shape 1017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Shape 1018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Shape 1019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Shape 1020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Shape 1021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Shape 102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Shape 102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Shape 1024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Shape 1025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Shape 1026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Shape 1027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Shape 1028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Shape 1029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Shape 1030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Shape 1031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Shape 103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Shape 103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Shape 1034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Shape 1035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Shape 1036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Shape 1037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Shape 1038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Shape 1039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Shape 1040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Shape 1041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Shape 104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Shape 104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Shape 1564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65" name="Shape 156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grpSp>
        <p:nvGrpSpPr>
          <p:cNvPr id="1566" name="Shape 1566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Shape 1567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Shape 1568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Shape 1569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Shape 1570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Shape 1571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Shape 1572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Shape 1573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Shape 1574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Shape 157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Shape 1576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Shape 1577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Shape 1578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Shape 1579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Shape 1580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Shape 1581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Shape 1582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Shape 1583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Shape 1584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Shape 158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Shape 1586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Shape 1587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Shape 1588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Shape 1589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Shape 1590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Shape 1591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Shape 1592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Shape 1593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Shape 1594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Shape 159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Shape 1596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Shape 1597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Shape 1598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Shape 1599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Shape 1600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Shape 1601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Shape 1602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Shape 1603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Shape 1604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Shape 160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Shape 1606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Shape 1607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Shape 1608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Shape 1609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Shape 1610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Shape 1611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Shape 1612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Shape 1613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Shape 1614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Shape 161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Shape 1616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Shape 1617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Shape 1618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Shape 1619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Shape 1620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Shape 1621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Shape 1622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Shape 1623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Shape 1624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Shape 162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Shape 1626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Shape 1627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Shape 1628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Shape 1629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Shape 1630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Shape 1631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Shape 1632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Shape 1633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Shape 1634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Shape 163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Shape 1636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Shape 1637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Shape 1638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Shape 1639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Shape 1640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Shape 1641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Shape 1642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Shape 1643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Shape 1644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Shape 164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Shape 1646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Shape 1647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Shape 1648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Shape 1649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Shape 1650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Shape 1651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Shape 1652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Shape 1653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Shape 1654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Shape 165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Shape 1656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Shape 1657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Shape 1658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Shape 1659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Shape 1660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Shape 1661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Shape 1662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Shape 1663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Shape 1664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Shape 166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Shape 1666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Shape 1667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Shape 1668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Shape 1669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Shape 1670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Shape 1671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Shape 1672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Shape 1673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Shape 1674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Shape 167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Shape 1676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Shape 1677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Shape 1678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Shape 1679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Shape 1680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Shape 1681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Shape 1682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Shape 1683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Shape 1684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Shape 168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Shape 1686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Shape 1687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Shape 1688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Shape 1689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Shape 1690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Shape 1691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Shape 1692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Shape 1693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Shape 1694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Shape 169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Shape 1696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Shape 1697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Shape 1698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Shape 1699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Shape 1700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Shape 1701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Shape 1702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Shape 1703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Shape 1704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Shape 170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Shape 1706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Shape 1707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Shape 1708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Shape 1709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Shape 1710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Shape 1711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Shape 1712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Shape 1713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Shape 1714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Shape 171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Shape 1716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Shape 1717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Shape 1718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Shape 1719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Shape 1720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Shape 1721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Shape 1722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Shape 1723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Shape 1724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Shape 172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Shape 1726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Shape 1727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Shape 1728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Shape 1729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Shape 1730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Shape 1731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Shape 1732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Shape 1733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Shape 1734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Shape 173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Shape 1736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Shape 1737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Shape 1738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Shape 1739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Shape 1740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Shape 1741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Shape 1742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Shape 1743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Shape 1744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Shape 174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Shape 1746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Shape 1747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Shape 1748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Shape 1749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Shape 1750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Shape 1751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Shape 1752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Shape 1753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Shape 1754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Shape 175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Shape 1756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Shape 1757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Shape 1758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Shape 1759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Shape 1760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Shape 1761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Shape 1762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Shape 1763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Shape 1764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Shape 176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Shape 1766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Shape 1767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Shape 1768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Shape 1769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Shape 1770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Shape 1771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Shape 1772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Shape 1773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Shape 1774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Shape 177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Shape 1776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Shape 1777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Shape 1778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Shape 1779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Shape 1780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Shape 1781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Shape 1782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Shape 1783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Shape 1784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Shape 178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Shape 1786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Shape 1787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Shape 1788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Shape 1789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Shape 1790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Shape 1791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Shape 1792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Shape 1793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Shape 1794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Shape 179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Shape 1796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Shape 1797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Shape 1798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Shape 1799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Shape 1800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Shape 1801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Shape 1802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Shape 1803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Shape 1804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Shape 180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Shape 1806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Shape 1807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Shape 1808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Shape 1809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Shape 1810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Shape 1811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Shape 1812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Shape 1813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Shape 1814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Shape 181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Shape 1816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Shape 1817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Shape 1818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Shape 1819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Shape 1820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Shape 1821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Shape 1822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Shape 1823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Shape 1824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Shape 182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Shape 1826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Shape 1827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Shape 1828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Shape 1829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Shape 1830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Shape 1831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Shape 1832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Shape 1833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Shape 1834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Shape 183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Shape 1836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Shape 1837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Shape 1838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Shape 1839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Shape 1840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rgbClr val="003B55"/>
        </a:solidFill>
        <a:effectLst/>
      </p:bgPr>
    </p:bg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1" name="Shape 3231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3232" name="Shape 3232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Shape 3233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Shape 3234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Shape 323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Shape 3236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Shape 3237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Shape 3238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Shape 3239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Shape 3240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Shape 3241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Shape 3242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Shape 3243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Shape 3244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Shape 324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Shape 3246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Shape 3247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Shape 3248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Shape 3249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Shape 3250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Shape 3251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Shape 3252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Shape 3253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Shape 3254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Shape 325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Shape 3256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Shape 3257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Shape 3258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Shape 3259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Shape 3260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Shape 3261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Shape 3262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Shape 3263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Shape 3264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Shape 326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Shape 3266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Shape 3267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Shape 3268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Shape 3269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Shape 3270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Shape 3271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Shape 3272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Shape 3273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Shape 3274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Shape 327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Shape 3276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Shape 3277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Shape 3278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Shape 3279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Shape 3280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Shape 3281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Shape 3282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Shape 3283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Shape 3284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Shape 328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Shape 3286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Shape 3287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Shape 3288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89" name="Shape 3289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3290" name="Shape 3290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Shape 3291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Shape 3292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Shape 3293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Shape 3294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Shape 329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Shape 3296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Shape 3297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Shape 3298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Shape 3299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Shape 3300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Shape 3301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Shape 3302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Shape 3303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Shape 3304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Shape 330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Shape 3306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Shape 3307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Shape 3308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Shape 3309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Shape 3310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Shape 3311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Shape 3312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Shape 3313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Shape 3314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Shape 331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Shape 3316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Shape 3317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Shape 3318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Shape 3319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Shape 3320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Shape 3321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Shape 3322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Shape 3323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Shape 3324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Shape 332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Shape 3326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Shape 3327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Shape 3328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Shape 3329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Shape 3330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Shape 3331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Shape 3332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Shape 3333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Shape 3334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Shape 333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Shape 3336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Shape 3337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Shape 3338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Shape 3339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Shape 3340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Shape 3341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Shape 3342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Shape 3343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Shape 3344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Shape 334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Shape 3346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Shape 3347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Shape 3348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Shape 3349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Shape 3350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Shape 3351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2" name="Shape 3352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3353" name="Shape 3353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Shape 3354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Shape 335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Shape 3356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Shape 3357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Shape 3358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Shape 3359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Shape 3360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Shape 3361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Shape 3362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Shape 3363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Shape 3364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Shape 336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Shape 3366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Shape 3367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Shape 3368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Shape 3369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Shape 3370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Shape 3371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Shape 3372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Shape 3373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Shape 3374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Shape 337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Shape 3376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Shape 3377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Shape 3378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Shape 3379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Shape 3380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Shape 3381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Shape 3382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Shape 3383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Shape 3384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Shape 338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Shape 3386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Shape 3387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Shape 3388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Shape 3389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Shape 3390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Shape 3391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Shape 3392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Shape 3393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Shape 3394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Shape 339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Shape 3396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Shape 3397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Shape 3398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Shape 3399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Shape 3400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Shape 3401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Shape 3402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Shape 3403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Shape 3404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Shape 340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Shape 3406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Shape 3407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Shape 3408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Shape 3409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Shape 3410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Shape 3411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Shape 3412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Shape 3413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Shape 3414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Shape 341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Shape 3416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Shape 3417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Shape 3418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Shape 3419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Shape 3420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Shape 3421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Shape 3422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Shape 3423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Shape 3424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Shape 342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Shape 3426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Shape 3427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Shape 3428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Shape 3429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Shape 3430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Shape 3431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Shape 3432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Shape 3433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Shape 3434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Shape 343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Shape 3436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Shape 3437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Shape 3438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Shape 3439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Shape 3440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Shape 3441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Shape 3442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Shape 3443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Shape 3444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Shape 344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Shape 3446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Shape 3447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Shape 3448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Shape 3449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Shape 3450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Shape 3451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Shape 3452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Shape 3453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4" name="Shape 3454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3455" name="Shape 345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Shape 3456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Shape 3457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Shape 3458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Shape 3459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Shape 3460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Shape 3461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Shape 3462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Shape 3463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Shape 3464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Shape 346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Shape 3466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Shape 3467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Shape 3468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Shape 3469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Shape 3470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Shape 3471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Shape 3472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Shape 3473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Shape 3474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Shape 347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Shape 3476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Shape 3477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Shape 3478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Shape 3479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Shape 3480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Shape 3481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Shape 3482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Shape 3483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Shape 3484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Shape 348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Shape 3486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Shape 3487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Shape 3488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Shape 3489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Shape 3490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Shape 3491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Shape 3492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Shape 3493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Shape 3494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Shape 349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Shape 3496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Shape 3497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Shape 3498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Shape 3499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Shape 3500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Shape 3501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Shape 3502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Shape 3503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Shape 3504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5" name="Shape 350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80BFB7"/>
                </a:solidFill>
              </a:defRPr>
            </a:lvl1pPr>
            <a:lvl2pPr lvl="1">
              <a:buNone/>
              <a:defRPr>
                <a:solidFill>
                  <a:srgbClr val="80BFB7"/>
                </a:solidFill>
              </a:defRPr>
            </a:lvl2pPr>
            <a:lvl3pPr lvl="2">
              <a:buNone/>
              <a:defRPr>
                <a:solidFill>
                  <a:srgbClr val="80BFB7"/>
                </a:solidFill>
              </a:defRPr>
            </a:lvl3pPr>
            <a:lvl4pPr lvl="3">
              <a:buNone/>
              <a:defRPr>
                <a:solidFill>
                  <a:srgbClr val="80BFB7"/>
                </a:solidFill>
              </a:defRPr>
            </a:lvl4pPr>
            <a:lvl5pPr lvl="4">
              <a:buNone/>
              <a:defRPr>
                <a:solidFill>
                  <a:srgbClr val="80BFB7"/>
                </a:solidFill>
              </a:defRPr>
            </a:lvl5pPr>
            <a:lvl6pPr lvl="5">
              <a:buNone/>
              <a:defRPr>
                <a:solidFill>
                  <a:srgbClr val="80BFB7"/>
                </a:solidFill>
              </a:defRPr>
            </a:lvl6pPr>
            <a:lvl7pPr lvl="6">
              <a:buNone/>
              <a:defRPr>
                <a:solidFill>
                  <a:srgbClr val="80BFB7"/>
                </a:solidFill>
              </a:defRPr>
            </a:lvl7pPr>
            <a:lvl8pPr lvl="7">
              <a:buNone/>
              <a:defRPr>
                <a:solidFill>
                  <a:srgbClr val="80BFB7"/>
                </a:solidFill>
              </a:defRPr>
            </a:lvl8pPr>
            <a:lvl9pPr lvl="8">
              <a:buNone/>
              <a:defRPr>
                <a:solidFill>
                  <a:srgbClr val="80BFB7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A44490-5166-46AB-A742-0963489CE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1AC6B5F-E4F8-471E-A550-57D450F6F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718E6B-D8E2-41BF-8C18-06C3AAF3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D3646C-7E20-4CFC-A408-4A1F79DF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E47C46-2B24-4F38-B88B-E45FA8679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0907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8B082B-02B3-48A9-86C0-CA0B8E40E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C7989F-B10C-4E90-8BED-9137C5227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3E6AA6-6ECC-4D0C-A525-7E0F06D0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A21087-4243-4B0F-8DD0-B93D581D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4F2D68-8721-444A-B1EA-96915E2D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0526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9F14BD-5043-4922-A4A1-DFA02E57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F82A233-C84E-4D1F-BB1B-5ECE2EE15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2177E9-A24A-4D7C-8F33-B9D02B4B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B6A732-48CD-4F76-8C79-9CFCF3DB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54F3A1-A76D-4426-A333-B3B3CB342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515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C77228-4176-4A0F-8253-EE4461E0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2CAC4C-2DB5-42BB-986A-7EF764F48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98AD0DD-7FCC-4BC1-B8CD-7EB54DB46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2A10A97-D9D1-422B-958D-403146022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21D54D-B0DD-431F-A4ED-8A214525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514A0DA-AA38-4737-B541-2615D8CDC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010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14A480-B7DE-438F-8894-64F59D45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E876711-493C-491B-8FC1-431797A64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6627D48-E3CF-431F-BD47-BFAF5084A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8F6799-B641-4E65-AE24-C37CDC055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C07451E-7115-4AD6-A3C8-76D497F36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9CE010C-3201-4CEB-8AE3-7548F403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0347041-75EA-4AFF-AC20-3751E367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90D235B-9532-4480-A7A7-6B5BB693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076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0C6838-D189-4D80-B2F7-9D4AA1EDD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006F98B-8676-4DBD-96DC-163DFDB0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14816BB-E94A-4AFB-9C6B-AE66927D4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1D132A1-4E7B-4C54-8FE4-7DE176D5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948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DE8D336-7B12-402B-94F9-7FD705C0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0CC43DF-0B33-40D2-A495-E7DCBDC4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92D3A2-FDC2-4518-BDAE-4671D701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0044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213CAD-0E2A-4883-9059-484844C48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CB2A38-AF9B-424A-B901-1E256E22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B75574C-FB75-40E1-A61E-967C5132E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24DA9C-CC09-41A4-9890-7912BE034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E4E056D-8B45-413F-B87E-3367DD37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BBB0D5-00C3-4E10-82E4-8DBF8C00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4731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8523B9-97B0-4A11-8144-B899E09A3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38397C8-4B6B-480E-9B3F-DE483E43A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473E95-2809-4FDB-8C6A-4313CEEE1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44448AB-9F16-4F8F-BDC8-CD854E77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75515B-F087-4E5A-84CF-966FD583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D8996D-3088-4F90-8F19-3C75BE69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0331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FC1357-96D8-4C67-BEB8-9125A3863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9A8BA58-7A07-4D0B-89FB-AFF1FC65D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E247ED-61E5-4502-AD7C-5D7165E8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7311DD-F85D-43A4-9D24-099A2EB7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5A5402-7FCB-42DA-9746-A69FCC65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5985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6CADF81-9439-49D9-B763-9B32CD0DD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ED5E375-DFB9-4332-B2EB-F375DE579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D3CB7F-5BCC-4403-AE32-E20AAD55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321B17-C644-4079-9751-263014BA6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2F89E4-95CB-4C3F-9DDC-AD37E407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9390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Shape 1564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65" name="Shape 156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8099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378" lvl="1" indent="-38099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566" lvl="2" indent="-38099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754" lvl="3" indent="-38099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5943" lvl="4" indent="-38099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132" lvl="5" indent="-38099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320" lvl="6" indent="-38099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509" lvl="7" indent="-38099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697" lvl="8" indent="-38099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grpSp>
        <p:nvGrpSpPr>
          <p:cNvPr id="1566" name="Shape 1566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Shape 1567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8" name="Shape 1568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9" name="Shape 1569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0" name="Shape 1570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1" name="Shape 1571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2" name="Shape 1572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3" name="Shape 1573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4" name="Shape 1574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5" name="Shape 157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6" name="Shape 1576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7" name="Shape 1577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8" name="Shape 1578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9" name="Shape 1579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0" name="Shape 1580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1" name="Shape 1581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2" name="Shape 1582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3" name="Shape 1583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4" name="Shape 1584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5" name="Shape 158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6" name="Shape 1586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7" name="Shape 1587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8" name="Shape 1588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9" name="Shape 1589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0" name="Shape 1590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1" name="Shape 1591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2" name="Shape 1592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3" name="Shape 1593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4" name="Shape 1594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5" name="Shape 159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6" name="Shape 1596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7" name="Shape 1597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8" name="Shape 1598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9" name="Shape 1599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0" name="Shape 1600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1" name="Shape 1601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2" name="Shape 1602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3" name="Shape 1603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4" name="Shape 1604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5" name="Shape 160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6" name="Shape 1606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7" name="Shape 1607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8" name="Shape 1608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9" name="Shape 1609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0" name="Shape 1610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1" name="Shape 1611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2" name="Shape 1612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3" name="Shape 1613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4" name="Shape 1614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5" name="Shape 161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6" name="Shape 1616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7" name="Shape 1617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8" name="Shape 1618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9" name="Shape 1619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0" name="Shape 1620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1" name="Shape 1621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2" name="Shape 1622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3" name="Shape 1623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624" name="Shape 1624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Shape 162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6" name="Shape 1626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7" name="Shape 1627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8" name="Shape 1628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9" name="Shape 1629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0" name="Shape 1630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1" name="Shape 1631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2" name="Shape 1632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3" name="Shape 1633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4" name="Shape 1634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5" name="Shape 163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6" name="Shape 1636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7" name="Shape 1637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8" name="Shape 1638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9" name="Shape 1639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0" name="Shape 1640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1" name="Shape 1641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2" name="Shape 1642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3" name="Shape 1643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4" name="Shape 1644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5" name="Shape 164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6" name="Shape 1646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7" name="Shape 1647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8" name="Shape 1648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9" name="Shape 1649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0" name="Shape 1650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1" name="Shape 1651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2" name="Shape 1652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3" name="Shape 1653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4" name="Shape 1654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5" name="Shape 165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6" name="Shape 1656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7" name="Shape 1657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8" name="Shape 1658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9" name="Shape 1659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0" name="Shape 1660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1" name="Shape 1661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2" name="Shape 1662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3" name="Shape 1663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4" name="Shape 1664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5" name="Shape 166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6" name="Shape 1666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7" name="Shape 1667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8" name="Shape 1668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9" name="Shape 1669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0" name="Shape 1670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1" name="Shape 1671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2" name="Shape 1672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3" name="Shape 1673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4" name="Shape 1674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5" name="Shape 167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6" name="Shape 1676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7" name="Shape 1677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8" name="Shape 1678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9" name="Shape 1679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0" name="Shape 1680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1" name="Shape 1681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2" name="Shape 1682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3" name="Shape 1683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4" name="Shape 1684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5" name="Shape 168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6" name="Shape 1686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687" name="Shape 1687"/>
          <p:cNvGrpSpPr/>
          <p:nvPr/>
        </p:nvGrpSpPr>
        <p:grpSpPr>
          <a:xfrm rot="10800000">
            <a:off x="7682452" y="28707"/>
            <a:ext cx="994639" cy="4940182"/>
            <a:chOff x="5759350" y="388625"/>
            <a:chExt cx="1024450" cy="5088250"/>
          </a:xfrm>
        </p:grpSpPr>
        <p:sp>
          <p:nvSpPr>
            <p:cNvPr id="1688" name="Shape 1688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9" name="Shape 1689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0" name="Shape 1690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1" name="Shape 1691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2" name="Shape 1692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3" name="Shape 1693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4" name="Shape 1694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5" name="Shape 169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6" name="Shape 1696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7" name="Shape 1697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8" name="Shape 1698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9" name="Shape 1699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0" name="Shape 1700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1" name="Shape 1701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2" name="Shape 1702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3" name="Shape 1703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4" name="Shape 1704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5" name="Shape 170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6" name="Shape 1706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7" name="Shape 1707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8" name="Shape 1708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9" name="Shape 1709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0" name="Shape 1710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1" name="Shape 1711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2" name="Shape 1712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3" name="Shape 1713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4" name="Shape 1714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5" name="Shape 171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6" name="Shape 1716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7" name="Shape 1717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8" name="Shape 1718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9" name="Shape 1719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0" name="Shape 1720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1" name="Shape 1721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2" name="Shape 1722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3" name="Shape 1723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4" name="Shape 1724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5" name="Shape 172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6" name="Shape 1726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7" name="Shape 1727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8" name="Shape 1728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9" name="Shape 1729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0" name="Shape 1730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1" name="Shape 1731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2" name="Shape 1732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3" name="Shape 1733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4" name="Shape 1734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5" name="Shape 173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6" name="Shape 1736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7" name="Shape 1737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8" name="Shape 1738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9" name="Shape 1739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0" name="Shape 1740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1" name="Shape 1741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2" name="Shape 1742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3" name="Shape 1743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4" name="Shape 1744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5" name="Shape 174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6" name="Shape 1746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7" name="Shape 1747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8" name="Shape 1748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9" name="Shape 1749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0" name="Shape 1750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1" name="Shape 1751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2" name="Shape 1752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3" name="Shape 1753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4" name="Shape 1754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5" name="Shape 175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6" name="Shape 1756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7" name="Shape 1757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8" name="Shape 1758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9" name="Shape 1759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0" name="Shape 1760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1" name="Shape 1761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2" name="Shape 1762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3" name="Shape 1763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4" name="Shape 1764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5" name="Shape 176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6" name="Shape 1766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7" name="Shape 1767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8" name="Shape 1768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9" name="Shape 1769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0" name="Shape 1770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1" name="Shape 1771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2" name="Shape 1772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3" name="Shape 1773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4" name="Shape 1774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5" name="Shape 177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6" name="Shape 1776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7" name="Shape 1777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8" name="Shape 1778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9" name="Shape 1779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0" name="Shape 1780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1" name="Shape 1781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2" name="Shape 1782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3" name="Shape 1783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4" name="Shape 1784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5" name="Shape 178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6" name="Shape 1786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7" name="Shape 1787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8" name="Shape 1788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789" name="Shape 1789"/>
          <p:cNvGrpSpPr/>
          <p:nvPr/>
        </p:nvGrpSpPr>
        <p:grpSpPr>
          <a:xfrm rot="10800000">
            <a:off x="7682452" y="28707"/>
            <a:ext cx="1140783" cy="5086302"/>
            <a:chOff x="5608825" y="238125"/>
            <a:chExt cx="1174975" cy="5238750"/>
          </a:xfrm>
        </p:grpSpPr>
        <p:sp>
          <p:nvSpPr>
            <p:cNvPr id="1790" name="Shape 1790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1" name="Shape 1791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2" name="Shape 1792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3" name="Shape 1793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4" name="Shape 1794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5" name="Shape 179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6" name="Shape 1796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7" name="Shape 1797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8" name="Shape 1798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9" name="Shape 1799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0" name="Shape 1800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1" name="Shape 1801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2" name="Shape 1802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3" name="Shape 1803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4" name="Shape 1804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5" name="Shape 180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6" name="Shape 1806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7" name="Shape 1807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8" name="Shape 1808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9" name="Shape 1809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0" name="Shape 1810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1" name="Shape 1811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2" name="Shape 1812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3" name="Shape 1813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4" name="Shape 1814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5" name="Shape 181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6" name="Shape 1816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7" name="Shape 1817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8" name="Shape 1818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9" name="Shape 1819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0" name="Shape 1820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1" name="Shape 1821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2" name="Shape 1822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3" name="Shape 1823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4" name="Shape 1824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5" name="Shape 182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6" name="Shape 1826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7" name="Shape 1827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8" name="Shape 1828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9" name="Shape 1829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0" name="Shape 1830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1" name="Shape 1831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2" name="Shape 1832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3" name="Shape 1833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4" name="Shape 1834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5" name="Shape 183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6" name="Shape 1836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7" name="Shape 1837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8" name="Shape 1838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9" name="Shape 1839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40" name="Shape 1840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759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buNone/>
              <a:defRPr sz="1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buNone/>
              <a:defRPr sz="1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buNone/>
              <a:defRPr sz="1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buNone/>
              <a:defRPr sz="1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buNone/>
              <a:defRPr sz="1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buNone/>
              <a:defRPr sz="1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buNone/>
              <a:defRPr sz="1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buNone/>
              <a:defRPr sz="1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5EFED8C-7856-4898-BBF1-3DCE547D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4E2F98D-2FBF-499C-B2B0-74EC4269B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41D2188-5E8A-42C6-92C3-650D88FDB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B68FA-CF8D-40E5-8A2B-4608398DF307}" type="datetimeFigureOut">
              <a:rPr lang="it-IT" smtClean="0"/>
              <a:t>27/06/2018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5D6371-6D36-41C2-ADB8-FB1CF9159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480107-52FF-4D53-9CAE-84521426E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6CD72-2F25-4075-AF74-D465D263D6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811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8548" cy="5143500"/>
          </a:xfrm>
          <a:prstGeom prst="rect">
            <a:avLst/>
          </a:prstGeom>
        </p:spPr>
      </p:pic>
      <p:sp>
        <p:nvSpPr>
          <p:cNvPr id="3" name="Rettangolo 1">
            <a:extLst>
              <a:ext uri="{FF2B5EF4-FFF2-40B4-BE49-F238E27FC236}">
                <a16:creationId xmlns:a16="http://schemas.microsoft.com/office/drawing/2014/main" id="{18FCCF1B-A94C-4FDD-AC1F-C44EF868D86C}"/>
              </a:ext>
            </a:extLst>
          </p:cNvPr>
          <p:cNvSpPr/>
          <p:nvPr/>
        </p:nvSpPr>
        <p:spPr>
          <a:xfrm>
            <a:off x="5392970" y="993384"/>
            <a:ext cx="377557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buClrTx/>
            </a:pPr>
            <a:r>
              <a:rPr lang="it-IT" sz="4200" kern="1200" dirty="0">
                <a:solidFill>
                  <a:prstClr val="white"/>
                </a:solidFill>
                <a:latin typeface="Dosis Light" panose="020B0604020202020204" charset="0"/>
                <a:ea typeface="+mn-ea"/>
                <a:cs typeface="Dubai Light" panose="020B0303030403030204" pitchFamily="34" charset="-78"/>
              </a:rPr>
              <a:t>Classificazione </a:t>
            </a:r>
          </a:p>
          <a:p>
            <a:pPr defTabSz="685800">
              <a:buClrTx/>
            </a:pPr>
            <a:r>
              <a:rPr lang="it-IT" sz="4200" kern="1200" dirty="0">
                <a:solidFill>
                  <a:prstClr val="white"/>
                </a:solidFill>
                <a:latin typeface="Dosis Light" panose="020B0604020202020204" charset="0"/>
                <a:ea typeface="+mn-ea"/>
                <a:cs typeface="Dubai Light" panose="020B0303030403030204" pitchFamily="34" charset="-78"/>
              </a:rPr>
              <a:t>delle più comuni patologie tiroidee</a:t>
            </a:r>
          </a:p>
        </p:txBody>
      </p:sp>
      <p:sp>
        <p:nvSpPr>
          <p:cNvPr id="4" name="Shape 4040"/>
          <p:cNvSpPr txBox="1">
            <a:spLocks/>
          </p:cNvSpPr>
          <p:nvPr/>
        </p:nvSpPr>
        <p:spPr>
          <a:xfrm>
            <a:off x="5871262" y="3738750"/>
            <a:ext cx="3459336" cy="1613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it-IT" sz="1600" dirty="0">
                <a:solidFill>
                  <a:srgbClr val="D3EBD5"/>
                </a:solidFill>
              </a:rPr>
              <a:t>Aldeghi Chiara 			</a:t>
            </a:r>
          </a:p>
          <a:p>
            <a:pPr marL="0" indent="0"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it-IT" sz="1600" dirty="0">
                <a:solidFill>
                  <a:srgbClr val="D3EBD5"/>
                </a:solidFill>
              </a:rPr>
              <a:t>Crippa Chiara			</a:t>
            </a:r>
          </a:p>
          <a:p>
            <a:pPr marL="0" indent="0"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it-IT" sz="1600" dirty="0">
                <a:solidFill>
                  <a:srgbClr val="D3EBD5"/>
                </a:solidFill>
              </a:rPr>
              <a:t>Iacoban Anastasia Iuliana	</a:t>
            </a:r>
          </a:p>
          <a:p>
            <a:pPr marL="0" indent="0"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it-IT" sz="1600" dirty="0">
                <a:solidFill>
                  <a:srgbClr val="D3EBD5"/>
                </a:solidFill>
              </a:rPr>
              <a:t>Viganò Elena			</a:t>
            </a:r>
          </a:p>
        </p:txBody>
      </p:sp>
      <p:sp>
        <p:nvSpPr>
          <p:cNvPr id="5" name="Shape 4040"/>
          <p:cNvSpPr txBox="1">
            <a:spLocks/>
          </p:cNvSpPr>
          <p:nvPr/>
        </p:nvSpPr>
        <p:spPr>
          <a:xfrm>
            <a:off x="8259831" y="3738750"/>
            <a:ext cx="1018679" cy="1613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it-IT" sz="1600" dirty="0">
                <a:solidFill>
                  <a:srgbClr val="D3EBD5"/>
                </a:solidFill>
              </a:rPr>
              <a:t>791835</a:t>
            </a:r>
          </a:p>
          <a:p>
            <a:pPr marL="0" indent="0"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it-IT" sz="1600" dirty="0">
                <a:solidFill>
                  <a:srgbClr val="D3EBD5"/>
                </a:solidFill>
              </a:rPr>
              <a:t>791876</a:t>
            </a:r>
          </a:p>
          <a:p>
            <a:pPr marL="0" indent="0"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it-IT" sz="1600" dirty="0">
                <a:solidFill>
                  <a:srgbClr val="D3EBD5"/>
                </a:solidFill>
              </a:rPr>
              <a:t>790668</a:t>
            </a:r>
          </a:p>
          <a:p>
            <a:pPr marL="0" indent="0"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it-IT" sz="1600" dirty="0">
                <a:solidFill>
                  <a:srgbClr val="D3EBD5"/>
                </a:solidFill>
              </a:rPr>
              <a:t>794747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0" y="87465"/>
            <a:ext cx="836465" cy="905919"/>
          </a:xfrm>
          <a:prstGeom prst="rect">
            <a:avLst/>
          </a:prstGeom>
        </p:spPr>
      </p:pic>
      <p:sp>
        <p:nvSpPr>
          <p:cNvPr id="7" name="Shape 4040"/>
          <p:cNvSpPr txBox="1">
            <a:spLocks/>
          </p:cNvSpPr>
          <p:nvPr/>
        </p:nvSpPr>
        <p:spPr>
          <a:xfrm>
            <a:off x="0" y="4599611"/>
            <a:ext cx="2419109" cy="54388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it-IT" sz="1800" dirty="0">
                <a:solidFill>
                  <a:srgbClr val="D3EBD5"/>
                </a:solidFill>
              </a:rPr>
              <a:t>Statistica Multivariata	</a:t>
            </a:r>
          </a:p>
        </p:txBody>
      </p:sp>
    </p:spTree>
    <p:extLst>
      <p:ext uri="{BB962C8B-B14F-4D97-AF65-F5344CB8AC3E}">
        <p14:creationId xmlns:p14="http://schemas.microsoft.com/office/powerpoint/2010/main" val="1332169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Shape 3870"/>
          <p:cNvSpPr txBox="1">
            <a:spLocks noGrp="1"/>
          </p:cNvSpPr>
          <p:nvPr>
            <p:ph type="title"/>
          </p:nvPr>
        </p:nvSpPr>
        <p:spPr>
          <a:xfrm>
            <a:off x="640231" y="16798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Presentazione della patologia</a:t>
            </a:r>
            <a:endParaRPr dirty="0"/>
          </a:p>
        </p:txBody>
      </p:sp>
      <p:sp>
        <p:nvSpPr>
          <p:cNvPr id="3871" name="Shape 3871"/>
          <p:cNvSpPr txBox="1">
            <a:spLocks noGrp="1"/>
          </p:cNvSpPr>
          <p:nvPr>
            <p:ph type="body" idx="1"/>
          </p:nvPr>
        </p:nvSpPr>
        <p:spPr>
          <a:xfrm>
            <a:off x="548180" y="1382543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>
              <a:spcBef>
                <a:spcPts val="0"/>
              </a:spcBef>
              <a:buNone/>
            </a:pPr>
            <a:r>
              <a:rPr lang="it-IT" sz="2300" dirty="0"/>
              <a:t>Il </a:t>
            </a:r>
            <a:r>
              <a:rPr lang="it-IT" sz="2300" b="1" dirty="0"/>
              <a:t>tiroidismo</a:t>
            </a:r>
            <a:r>
              <a:rPr lang="it-IT" sz="2300" dirty="0"/>
              <a:t> è una patologia dovuta al cattivo funzionamento della tiroide che provoca un insufficiente o un eccessivo rilascio di ormoni nel sangue. </a:t>
            </a:r>
          </a:p>
          <a:p>
            <a:pPr marL="76200" lvl="0" indent="0">
              <a:lnSpc>
                <a:spcPct val="150000"/>
              </a:lnSpc>
              <a:spcBef>
                <a:spcPts val="0"/>
              </a:spcBef>
              <a:buClr>
                <a:srgbClr val="0A859F"/>
              </a:buClr>
              <a:buNone/>
            </a:pPr>
            <a:r>
              <a:rPr lang="it-IT" sz="2300" dirty="0"/>
              <a:t>I due casi  sono: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buClr>
                <a:srgbClr val="0A859F"/>
              </a:buClr>
              <a:buFont typeface="Wingdings" panose="05000000000000000000" pitchFamily="2" charset="2"/>
              <a:buChar char="§"/>
            </a:pPr>
            <a:r>
              <a:rPr lang="en-US" sz="2300" b="1" dirty="0" err="1"/>
              <a:t>ipotiroidismo</a:t>
            </a:r>
            <a:r>
              <a:rPr lang="en-US" sz="2300" b="1" dirty="0"/>
              <a:t> 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buClr>
                <a:srgbClr val="0A859F"/>
              </a:buClr>
              <a:buFont typeface="Wingdings" panose="05000000000000000000" pitchFamily="2" charset="2"/>
              <a:buChar char="§"/>
            </a:pPr>
            <a:r>
              <a:rPr lang="en-US" sz="2300" b="1" dirty="0" err="1"/>
              <a:t>ipertiroidismo</a:t>
            </a:r>
            <a:endParaRPr lang="en-US" sz="2300" b="1" dirty="0"/>
          </a:p>
          <a:p>
            <a:pPr marL="76200" lvl="0" indent="0">
              <a:spcBef>
                <a:spcPts val="0"/>
              </a:spcBef>
              <a:buNone/>
            </a:pPr>
            <a:endParaRPr lang="it-IT" dirty="0"/>
          </a:p>
        </p:txBody>
      </p:sp>
      <p:sp>
        <p:nvSpPr>
          <p:cNvPr id="3872" name="Shape 3872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76E91A-0E46-4EBD-A8F6-BF8235DC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52" y="138598"/>
            <a:ext cx="6761100" cy="857400"/>
          </a:xfrm>
        </p:spPr>
        <p:txBody>
          <a:bodyPr/>
          <a:lstStyle/>
          <a:p>
            <a:r>
              <a:rPr lang="it-IT" dirty="0"/>
              <a:t>Obiettivo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67EAA7-FB16-4949-B263-90EF2DA9E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4011" y="1048936"/>
            <a:ext cx="6483579" cy="1724681"/>
          </a:xfrm>
        </p:spPr>
        <p:txBody>
          <a:bodyPr/>
          <a:lstStyle/>
          <a:p>
            <a:pPr marL="76200" indent="0">
              <a:buNone/>
            </a:pPr>
            <a:r>
              <a:rPr lang="it-IT" sz="2300" dirty="0"/>
              <a:t>Classificare correttamente i soggetti tra le categorie:</a:t>
            </a:r>
          </a:p>
          <a:p>
            <a:pPr marL="76200" indent="0">
              <a:buNone/>
            </a:pPr>
            <a:r>
              <a:rPr lang="it-IT" sz="2300" dirty="0"/>
              <a:t>        </a:t>
            </a:r>
            <a:r>
              <a:rPr lang="it-IT" sz="2300" b="1" dirty="0"/>
              <a:t>1)</a:t>
            </a:r>
            <a:r>
              <a:rPr lang="it-IT" sz="2300" dirty="0"/>
              <a:t> ipotiroidismo</a:t>
            </a:r>
          </a:p>
          <a:p>
            <a:pPr marL="76200" indent="0">
              <a:buNone/>
            </a:pPr>
            <a:r>
              <a:rPr lang="it-IT" sz="2300" dirty="0"/>
              <a:t>              </a:t>
            </a:r>
            <a:r>
              <a:rPr lang="it-IT" sz="2300" b="1" dirty="0"/>
              <a:t>2) </a:t>
            </a:r>
            <a:r>
              <a:rPr lang="it-IT" sz="2300" dirty="0"/>
              <a:t>ipertiroidismo</a:t>
            </a:r>
          </a:p>
          <a:p>
            <a:pPr marL="76200" indent="0">
              <a:buNone/>
            </a:pPr>
            <a:r>
              <a:rPr lang="it-IT" sz="2300" dirty="0"/>
              <a:t>                   </a:t>
            </a:r>
            <a:r>
              <a:rPr lang="it-IT" sz="2300" b="1" dirty="0"/>
              <a:t>3)</a:t>
            </a:r>
            <a:r>
              <a:rPr lang="it-IT" sz="2300" dirty="0"/>
              <a:t> normale</a:t>
            </a:r>
          </a:p>
          <a:p>
            <a:pPr marL="7620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33EF0B-5BA3-4EA5-9972-3841BF61F9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3</a:t>
            </a:fld>
            <a:endParaRPr lang="it-IT"/>
          </a:p>
        </p:txBody>
      </p:sp>
      <p:sp>
        <p:nvSpPr>
          <p:cNvPr id="28" name="Freccia a destra 27">
            <a:extLst>
              <a:ext uri="{FF2B5EF4-FFF2-40B4-BE49-F238E27FC236}">
                <a16:creationId xmlns:a16="http://schemas.microsoft.com/office/drawing/2014/main" id="{BD71078D-908C-4586-B6E5-368C485FC3C6}"/>
              </a:ext>
            </a:extLst>
          </p:cNvPr>
          <p:cNvSpPr/>
          <p:nvPr/>
        </p:nvSpPr>
        <p:spPr>
          <a:xfrm>
            <a:off x="1334973" y="1233667"/>
            <a:ext cx="330506" cy="319489"/>
          </a:xfrm>
          <a:prstGeom prst="rightArrow">
            <a:avLst/>
          </a:prstGeom>
          <a:solidFill>
            <a:srgbClr val="0159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Segnaposto testo 2">
            <a:extLst>
              <a:ext uri="{FF2B5EF4-FFF2-40B4-BE49-F238E27FC236}">
                <a16:creationId xmlns:a16="http://schemas.microsoft.com/office/drawing/2014/main" id="{70AE19DA-8BFE-455A-9387-79C656CE5A93}"/>
              </a:ext>
            </a:extLst>
          </p:cNvPr>
          <p:cNvSpPr txBox="1">
            <a:spLocks/>
          </p:cNvSpPr>
          <p:nvPr/>
        </p:nvSpPr>
        <p:spPr>
          <a:xfrm>
            <a:off x="3759467" y="3444363"/>
            <a:ext cx="6317808" cy="104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it-IT" sz="2300" dirty="0"/>
              <a:t>Confronto a coppie </a:t>
            </a:r>
          </a:p>
          <a:p>
            <a:pPr marL="76200" indent="0">
              <a:buNone/>
            </a:pPr>
            <a:r>
              <a:rPr lang="it-IT" sz="2300" dirty="0"/>
              <a:t>rispetto alla classe normale</a:t>
            </a:r>
          </a:p>
        </p:txBody>
      </p:sp>
      <p:pic>
        <p:nvPicPr>
          <p:cNvPr id="41" name="Immagine 40">
            <a:extLst>
              <a:ext uri="{FF2B5EF4-FFF2-40B4-BE49-F238E27FC236}">
                <a16:creationId xmlns:a16="http://schemas.microsoft.com/office/drawing/2014/main" id="{53FFD1AF-3950-4CBF-B915-F77A38EA2A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949" r="1" b="37277"/>
          <a:stretch/>
        </p:blipFill>
        <p:spPr>
          <a:xfrm>
            <a:off x="-2093" y="2773617"/>
            <a:ext cx="2756280" cy="2463796"/>
          </a:xfrm>
          <a:prstGeom prst="rect">
            <a:avLst/>
          </a:prstGeom>
        </p:spPr>
      </p:pic>
      <p:grpSp>
        <p:nvGrpSpPr>
          <p:cNvPr id="43" name="Group 23">
            <a:extLst>
              <a:ext uri="{FF2B5EF4-FFF2-40B4-BE49-F238E27FC236}">
                <a16:creationId xmlns:a16="http://schemas.microsoft.com/office/drawing/2014/main" id="{3CD191C6-BBD0-43C1-9A75-BC15879BEF32}"/>
              </a:ext>
            </a:extLst>
          </p:cNvPr>
          <p:cNvGrpSpPr/>
          <p:nvPr/>
        </p:nvGrpSpPr>
        <p:grpSpPr>
          <a:xfrm flipH="1">
            <a:off x="605100" y="3414220"/>
            <a:ext cx="1229450" cy="1226955"/>
            <a:chOff x="6076950" y="2555876"/>
            <a:chExt cx="3076576" cy="3143249"/>
          </a:xfrm>
          <a:solidFill>
            <a:srgbClr val="01597F"/>
          </a:solidFill>
          <a:effectLst>
            <a:outerShdw blurRad="177800" dir="18900000" sy="23000" kx="-1200000" algn="bl" rotWithShape="0">
              <a:prstClr val="black">
                <a:alpha val="29000"/>
              </a:prstClr>
            </a:outerShdw>
          </a:effectLst>
        </p:grpSpPr>
        <p:sp>
          <p:nvSpPr>
            <p:cNvPr id="45" name="Freeform 21">
              <a:extLst>
                <a:ext uri="{FF2B5EF4-FFF2-40B4-BE49-F238E27FC236}">
                  <a16:creationId xmlns:a16="http://schemas.microsoft.com/office/drawing/2014/main" id="{C69DCFF4-9034-4D87-93D5-A6A4C672F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0788" y="5375275"/>
              <a:ext cx="312738" cy="323850"/>
            </a:xfrm>
            <a:custGeom>
              <a:avLst/>
              <a:gdLst>
                <a:gd name="T0" fmla="*/ 68 w 83"/>
                <a:gd name="T1" fmla="*/ 68 h 86"/>
                <a:gd name="T2" fmla="*/ 34 w 83"/>
                <a:gd name="T3" fmla="*/ 30 h 86"/>
                <a:gd name="T4" fmla="*/ 16 w 83"/>
                <a:gd name="T5" fmla="*/ 10 h 86"/>
                <a:gd name="T6" fmla="*/ 6 w 83"/>
                <a:gd name="T7" fmla="*/ 0 h 86"/>
                <a:gd name="T8" fmla="*/ 3 w 83"/>
                <a:gd name="T9" fmla="*/ 5 h 86"/>
                <a:gd name="T10" fmla="*/ 0 w 83"/>
                <a:gd name="T11" fmla="*/ 11 h 86"/>
                <a:gd name="T12" fmla="*/ 9 w 83"/>
                <a:gd name="T13" fmla="*/ 21 h 86"/>
                <a:gd name="T14" fmla="*/ 29 w 83"/>
                <a:gd name="T15" fmla="*/ 39 h 86"/>
                <a:gd name="T16" fmla="*/ 66 w 83"/>
                <a:gd name="T17" fmla="*/ 72 h 86"/>
                <a:gd name="T18" fmla="*/ 83 w 83"/>
                <a:gd name="T19" fmla="*/ 86 h 86"/>
                <a:gd name="T20" fmla="*/ 83 w 83"/>
                <a:gd name="T21" fmla="*/ 85 h 86"/>
                <a:gd name="T22" fmla="*/ 68 w 83"/>
                <a:gd name="T23" fmla="*/ 6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3" h="86">
                  <a:moveTo>
                    <a:pt x="68" y="68"/>
                  </a:moveTo>
                  <a:cubicBezTo>
                    <a:pt x="59" y="57"/>
                    <a:pt x="46" y="44"/>
                    <a:pt x="34" y="30"/>
                  </a:cubicBezTo>
                  <a:cubicBezTo>
                    <a:pt x="28" y="23"/>
                    <a:pt x="22" y="16"/>
                    <a:pt x="16" y="10"/>
                  </a:cubicBezTo>
                  <a:cubicBezTo>
                    <a:pt x="13" y="6"/>
                    <a:pt x="9" y="3"/>
                    <a:pt x="6" y="0"/>
                  </a:cubicBezTo>
                  <a:cubicBezTo>
                    <a:pt x="5" y="2"/>
                    <a:pt x="4" y="4"/>
                    <a:pt x="3" y="5"/>
                  </a:cubicBezTo>
                  <a:cubicBezTo>
                    <a:pt x="2" y="7"/>
                    <a:pt x="1" y="9"/>
                    <a:pt x="0" y="11"/>
                  </a:cubicBezTo>
                  <a:cubicBezTo>
                    <a:pt x="3" y="14"/>
                    <a:pt x="6" y="18"/>
                    <a:pt x="9" y="21"/>
                  </a:cubicBezTo>
                  <a:cubicBezTo>
                    <a:pt x="15" y="27"/>
                    <a:pt x="22" y="33"/>
                    <a:pt x="29" y="39"/>
                  </a:cubicBezTo>
                  <a:cubicBezTo>
                    <a:pt x="42" y="51"/>
                    <a:pt x="56" y="63"/>
                    <a:pt x="66" y="72"/>
                  </a:cubicBezTo>
                  <a:cubicBezTo>
                    <a:pt x="76" y="81"/>
                    <a:pt x="83" y="86"/>
                    <a:pt x="83" y="86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3" y="85"/>
                    <a:pt x="77" y="78"/>
                    <a:pt x="68" y="6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6F246D10-EA8C-48EF-BAF1-8566BE384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4606925"/>
              <a:ext cx="782638" cy="903287"/>
            </a:xfrm>
            <a:custGeom>
              <a:avLst/>
              <a:gdLst>
                <a:gd name="T0" fmla="*/ 204 w 208"/>
                <a:gd name="T1" fmla="*/ 156 h 240"/>
                <a:gd name="T2" fmla="*/ 48 w 208"/>
                <a:gd name="T3" fmla="*/ 0 h 240"/>
                <a:gd name="T4" fmla="*/ 48 w 208"/>
                <a:gd name="T5" fmla="*/ 0 h 240"/>
                <a:gd name="T6" fmla="*/ 35 w 208"/>
                <a:gd name="T7" fmla="*/ 53 h 240"/>
                <a:gd name="T8" fmla="*/ 0 w 208"/>
                <a:gd name="T9" fmla="*/ 84 h 240"/>
                <a:gd name="T10" fmla="*/ 156 w 208"/>
                <a:gd name="T11" fmla="*/ 240 h 240"/>
                <a:gd name="T12" fmla="*/ 189 w 208"/>
                <a:gd name="T13" fmla="*/ 215 h 240"/>
                <a:gd name="T14" fmla="*/ 192 w 208"/>
                <a:gd name="T15" fmla="*/ 209 h 240"/>
                <a:gd name="T16" fmla="*/ 195 w 208"/>
                <a:gd name="T17" fmla="*/ 204 h 240"/>
                <a:gd name="T18" fmla="*/ 204 w 208"/>
                <a:gd name="T19" fmla="*/ 156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" h="240">
                  <a:moveTo>
                    <a:pt x="204" y="156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6"/>
                    <a:pt x="48" y="30"/>
                    <a:pt x="35" y="53"/>
                  </a:cubicBezTo>
                  <a:cubicBezTo>
                    <a:pt x="22" y="75"/>
                    <a:pt x="7" y="89"/>
                    <a:pt x="0" y="84"/>
                  </a:cubicBezTo>
                  <a:cubicBezTo>
                    <a:pt x="156" y="240"/>
                    <a:pt x="156" y="240"/>
                    <a:pt x="156" y="240"/>
                  </a:cubicBezTo>
                  <a:cubicBezTo>
                    <a:pt x="156" y="240"/>
                    <a:pt x="173" y="237"/>
                    <a:pt x="189" y="215"/>
                  </a:cubicBezTo>
                  <a:cubicBezTo>
                    <a:pt x="190" y="213"/>
                    <a:pt x="191" y="211"/>
                    <a:pt x="192" y="209"/>
                  </a:cubicBezTo>
                  <a:cubicBezTo>
                    <a:pt x="193" y="208"/>
                    <a:pt x="194" y="206"/>
                    <a:pt x="195" y="204"/>
                  </a:cubicBezTo>
                  <a:cubicBezTo>
                    <a:pt x="208" y="179"/>
                    <a:pt x="204" y="156"/>
                    <a:pt x="204" y="156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>
              <a:noFill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7" name="Freeform 23">
              <a:extLst>
                <a:ext uri="{FF2B5EF4-FFF2-40B4-BE49-F238E27FC236}">
                  <a16:creationId xmlns:a16="http://schemas.microsoft.com/office/drawing/2014/main" id="{ABCC952E-8B1B-472D-B946-1AEDBEB17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3713" y="4592638"/>
              <a:ext cx="219075" cy="349250"/>
            </a:xfrm>
            <a:custGeom>
              <a:avLst/>
              <a:gdLst>
                <a:gd name="T0" fmla="*/ 52 w 58"/>
                <a:gd name="T1" fmla="*/ 4 h 93"/>
                <a:gd name="T2" fmla="*/ 32 w 58"/>
                <a:gd name="T3" fmla="*/ 13 h 93"/>
                <a:gd name="T4" fmla="*/ 39 w 58"/>
                <a:gd name="T5" fmla="*/ 21 h 93"/>
                <a:gd name="T6" fmla="*/ 39 w 58"/>
                <a:gd name="T7" fmla="*/ 26 h 93"/>
                <a:gd name="T8" fmla="*/ 32 w 58"/>
                <a:gd name="T9" fmla="*/ 51 h 93"/>
                <a:gd name="T10" fmla="*/ 16 w 58"/>
                <a:gd name="T11" fmla="*/ 66 h 93"/>
                <a:gd name="T12" fmla="*/ 13 w 58"/>
                <a:gd name="T13" fmla="*/ 67 h 93"/>
                <a:gd name="T14" fmla="*/ 5 w 58"/>
                <a:gd name="T15" fmla="*/ 59 h 93"/>
                <a:gd name="T16" fmla="*/ 4 w 58"/>
                <a:gd name="T17" fmla="*/ 87 h 93"/>
                <a:gd name="T18" fmla="*/ 4 w 58"/>
                <a:gd name="T19" fmla="*/ 88 h 93"/>
                <a:gd name="T20" fmla="*/ 39 w 58"/>
                <a:gd name="T21" fmla="*/ 57 h 93"/>
                <a:gd name="T22" fmla="*/ 52 w 58"/>
                <a:gd name="T23" fmla="*/ 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93">
                  <a:moveTo>
                    <a:pt x="52" y="4"/>
                  </a:moveTo>
                  <a:cubicBezTo>
                    <a:pt x="48" y="0"/>
                    <a:pt x="40" y="4"/>
                    <a:pt x="32" y="13"/>
                  </a:cubicBezTo>
                  <a:cubicBezTo>
                    <a:pt x="37" y="18"/>
                    <a:pt x="39" y="21"/>
                    <a:pt x="39" y="21"/>
                  </a:cubicBezTo>
                  <a:cubicBezTo>
                    <a:pt x="39" y="21"/>
                    <a:pt x="40" y="23"/>
                    <a:pt x="39" y="26"/>
                  </a:cubicBezTo>
                  <a:cubicBezTo>
                    <a:pt x="39" y="31"/>
                    <a:pt x="38" y="40"/>
                    <a:pt x="32" y="51"/>
                  </a:cubicBezTo>
                  <a:cubicBezTo>
                    <a:pt x="25" y="61"/>
                    <a:pt x="20" y="65"/>
                    <a:pt x="16" y="66"/>
                  </a:cubicBezTo>
                  <a:cubicBezTo>
                    <a:pt x="14" y="67"/>
                    <a:pt x="13" y="67"/>
                    <a:pt x="13" y="67"/>
                  </a:cubicBezTo>
                  <a:cubicBezTo>
                    <a:pt x="13" y="67"/>
                    <a:pt x="10" y="64"/>
                    <a:pt x="5" y="59"/>
                  </a:cubicBezTo>
                  <a:cubicBezTo>
                    <a:pt x="1" y="72"/>
                    <a:pt x="0" y="83"/>
                    <a:pt x="4" y="87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11" y="93"/>
                    <a:pt x="26" y="79"/>
                    <a:pt x="39" y="57"/>
                  </a:cubicBezTo>
                  <a:cubicBezTo>
                    <a:pt x="52" y="34"/>
                    <a:pt x="58" y="10"/>
                    <a:pt x="52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8" name="Freeform 24">
              <a:extLst>
                <a:ext uri="{FF2B5EF4-FFF2-40B4-BE49-F238E27FC236}">
                  <a16:creationId xmlns:a16="http://schemas.microsoft.com/office/drawing/2014/main" id="{522DD66C-4DB2-4F32-88BF-EFEE1B15A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950" y="3233738"/>
              <a:ext cx="754063" cy="647700"/>
            </a:xfrm>
            <a:custGeom>
              <a:avLst/>
              <a:gdLst>
                <a:gd name="T0" fmla="*/ 82 w 200"/>
                <a:gd name="T1" fmla="*/ 64 h 172"/>
                <a:gd name="T2" fmla="*/ 200 w 200"/>
                <a:gd name="T3" fmla="*/ 38 h 172"/>
                <a:gd name="T4" fmla="*/ 200 w 200"/>
                <a:gd name="T5" fmla="*/ 36 h 172"/>
                <a:gd name="T6" fmla="*/ 73 w 200"/>
                <a:gd name="T7" fmla="*/ 14 h 172"/>
                <a:gd name="T8" fmla="*/ 8 w 200"/>
                <a:gd name="T9" fmla="*/ 126 h 172"/>
                <a:gd name="T10" fmla="*/ 63 w 200"/>
                <a:gd name="T11" fmla="*/ 172 h 172"/>
                <a:gd name="T12" fmla="*/ 82 w 200"/>
                <a:gd name="T13" fmla="*/ 64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" h="172">
                  <a:moveTo>
                    <a:pt x="82" y="64"/>
                  </a:moveTo>
                  <a:cubicBezTo>
                    <a:pt x="105" y="25"/>
                    <a:pt x="156" y="22"/>
                    <a:pt x="200" y="38"/>
                  </a:cubicBezTo>
                  <a:cubicBezTo>
                    <a:pt x="200" y="37"/>
                    <a:pt x="199" y="36"/>
                    <a:pt x="200" y="36"/>
                  </a:cubicBezTo>
                  <a:cubicBezTo>
                    <a:pt x="159" y="13"/>
                    <a:pt x="108" y="0"/>
                    <a:pt x="73" y="14"/>
                  </a:cubicBezTo>
                  <a:cubicBezTo>
                    <a:pt x="5" y="41"/>
                    <a:pt x="0" y="80"/>
                    <a:pt x="8" y="126"/>
                  </a:cubicBezTo>
                  <a:cubicBezTo>
                    <a:pt x="13" y="151"/>
                    <a:pt x="34" y="167"/>
                    <a:pt x="63" y="172"/>
                  </a:cubicBezTo>
                  <a:cubicBezTo>
                    <a:pt x="57" y="136"/>
                    <a:pt x="63" y="96"/>
                    <a:pt x="82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" name="Freeform 25">
              <a:extLst>
                <a:ext uri="{FF2B5EF4-FFF2-40B4-BE49-F238E27FC236}">
                  <a16:creationId xmlns:a16="http://schemas.microsoft.com/office/drawing/2014/main" id="{77B91FB6-1BF3-4968-953B-6FCC7857A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2638425"/>
              <a:ext cx="279400" cy="730250"/>
            </a:xfrm>
            <a:custGeom>
              <a:avLst/>
              <a:gdLst>
                <a:gd name="T0" fmla="*/ 40 w 74"/>
                <a:gd name="T1" fmla="*/ 38 h 194"/>
                <a:gd name="T2" fmla="*/ 74 w 74"/>
                <a:gd name="T3" fmla="*/ 0 h 194"/>
                <a:gd name="T4" fmla="*/ 1 w 74"/>
                <a:gd name="T5" fmla="*/ 100 h 194"/>
                <a:gd name="T6" fmla="*/ 52 w 74"/>
                <a:gd name="T7" fmla="*/ 194 h 194"/>
                <a:gd name="T8" fmla="*/ 52 w 74"/>
                <a:gd name="T9" fmla="*/ 194 h 194"/>
                <a:gd name="T10" fmla="*/ 40 w 74"/>
                <a:gd name="T11" fmla="*/ 38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94">
                  <a:moveTo>
                    <a:pt x="40" y="38"/>
                  </a:moveTo>
                  <a:cubicBezTo>
                    <a:pt x="50" y="21"/>
                    <a:pt x="62" y="9"/>
                    <a:pt x="74" y="0"/>
                  </a:cubicBezTo>
                  <a:cubicBezTo>
                    <a:pt x="32" y="10"/>
                    <a:pt x="0" y="31"/>
                    <a:pt x="1" y="100"/>
                  </a:cubicBezTo>
                  <a:cubicBezTo>
                    <a:pt x="1" y="132"/>
                    <a:pt x="23" y="166"/>
                    <a:pt x="52" y="194"/>
                  </a:cubicBezTo>
                  <a:cubicBezTo>
                    <a:pt x="52" y="194"/>
                    <a:pt x="52" y="194"/>
                    <a:pt x="52" y="194"/>
                  </a:cubicBezTo>
                  <a:cubicBezTo>
                    <a:pt x="29" y="143"/>
                    <a:pt x="18" y="77"/>
                    <a:pt x="40" y="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0" name="Freeform 26">
              <a:extLst>
                <a:ext uri="{FF2B5EF4-FFF2-40B4-BE49-F238E27FC236}">
                  <a16:creationId xmlns:a16="http://schemas.microsoft.com/office/drawing/2014/main" id="{27751822-05D6-49F3-9D68-46D5F1355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1263" y="3316288"/>
              <a:ext cx="803275" cy="974725"/>
            </a:xfrm>
            <a:custGeom>
              <a:avLst/>
              <a:gdLst>
                <a:gd name="T0" fmla="*/ 199 w 213"/>
                <a:gd name="T1" fmla="*/ 83 h 259"/>
                <a:gd name="T2" fmla="*/ 143 w 213"/>
                <a:gd name="T3" fmla="*/ 16 h 259"/>
                <a:gd name="T4" fmla="*/ 25 w 213"/>
                <a:gd name="T5" fmla="*/ 42 h 259"/>
                <a:gd name="T6" fmla="*/ 6 w 213"/>
                <a:gd name="T7" fmla="*/ 150 h 259"/>
                <a:gd name="T8" fmla="*/ 39 w 213"/>
                <a:gd name="T9" fmla="*/ 218 h 259"/>
                <a:gd name="T10" fmla="*/ 172 w 213"/>
                <a:gd name="T11" fmla="*/ 190 h 259"/>
                <a:gd name="T12" fmla="*/ 211 w 213"/>
                <a:gd name="T13" fmla="*/ 104 h 259"/>
                <a:gd name="T14" fmla="*/ 213 w 213"/>
                <a:gd name="T15" fmla="*/ 99 h 259"/>
                <a:gd name="T16" fmla="*/ 212 w 213"/>
                <a:gd name="T17" fmla="*/ 98 h 259"/>
                <a:gd name="T18" fmla="*/ 199 w 213"/>
                <a:gd name="T19" fmla="*/ 83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3" h="259">
                  <a:moveTo>
                    <a:pt x="199" y="83"/>
                  </a:moveTo>
                  <a:cubicBezTo>
                    <a:pt x="173" y="54"/>
                    <a:pt x="145" y="23"/>
                    <a:pt x="143" y="16"/>
                  </a:cubicBezTo>
                  <a:cubicBezTo>
                    <a:pt x="99" y="0"/>
                    <a:pt x="48" y="3"/>
                    <a:pt x="25" y="42"/>
                  </a:cubicBezTo>
                  <a:cubicBezTo>
                    <a:pt x="6" y="74"/>
                    <a:pt x="0" y="114"/>
                    <a:pt x="6" y="150"/>
                  </a:cubicBezTo>
                  <a:cubicBezTo>
                    <a:pt x="11" y="176"/>
                    <a:pt x="22" y="201"/>
                    <a:pt x="39" y="218"/>
                  </a:cubicBezTo>
                  <a:cubicBezTo>
                    <a:pt x="80" y="259"/>
                    <a:pt x="140" y="246"/>
                    <a:pt x="172" y="190"/>
                  </a:cubicBezTo>
                  <a:cubicBezTo>
                    <a:pt x="191" y="158"/>
                    <a:pt x="207" y="130"/>
                    <a:pt x="211" y="104"/>
                  </a:cubicBezTo>
                  <a:cubicBezTo>
                    <a:pt x="212" y="102"/>
                    <a:pt x="213" y="101"/>
                    <a:pt x="213" y="99"/>
                  </a:cubicBezTo>
                  <a:cubicBezTo>
                    <a:pt x="213" y="99"/>
                    <a:pt x="213" y="98"/>
                    <a:pt x="212" y="98"/>
                  </a:cubicBezTo>
                  <a:cubicBezTo>
                    <a:pt x="207" y="92"/>
                    <a:pt x="203" y="87"/>
                    <a:pt x="199" y="8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1" name="Freeform 27">
              <a:extLst>
                <a:ext uri="{FF2B5EF4-FFF2-40B4-BE49-F238E27FC236}">
                  <a16:creationId xmlns:a16="http://schemas.microsoft.com/office/drawing/2014/main" id="{6BDA1C83-4C5E-4AF8-9B0D-E00671DD6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2425" y="2555876"/>
              <a:ext cx="763588" cy="1065212"/>
            </a:xfrm>
            <a:custGeom>
              <a:avLst/>
              <a:gdLst>
                <a:gd name="T0" fmla="*/ 22 w 203"/>
                <a:gd name="T1" fmla="*/ 60 h 283"/>
                <a:gd name="T2" fmla="*/ 34 w 203"/>
                <a:gd name="T3" fmla="*/ 216 h 283"/>
                <a:gd name="T4" fmla="*/ 72 w 203"/>
                <a:gd name="T5" fmla="*/ 246 h 283"/>
                <a:gd name="T6" fmla="*/ 95 w 203"/>
                <a:gd name="T7" fmla="*/ 267 h 283"/>
                <a:gd name="T8" fmla="*/ 99 w 203"/>
                <a:gd name="T9" fmla="*/ 270 h 283"/>
                <a:gd name="T10" fmla="*/ 113 w 203"/>
                <a:gd name="T11" fmla="*/ 283 h 283"/>
                <a:gd name="T12" fmla="*/ 170 w 203"/>
                <a:gd name="T13" fmla="*/ 207 h 283"/>
                <a:gd name="T14" fmla="*/ 155 w 203"/>
                <a:gd name="T15" fmla="*/ 31 h 283"/>
                <a:gd name="T16" fmla="*/ 56 w 203"/>
                <a:gd name="T17" fmla="*/ 22 h 283"/>
                <a:gd name="T18" fmla="*/ 22 w 203"/>
                <a:gd name="T19" fmla="*/ 6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283">
                  <a:moveTo>
                    <a:pt x="22" y="60"/>
                  </a:moveTo>
                  <a:cubicBezTo>
                    <a:pt x="0" y="99"/>
                    <a:pt x="11" y="165"/>
                    <a:pt x="34" y="216"/>
                  </a:cubicBezTo>
                  <a:cubicBezTo>
                    <a:pt x="37" y="216"/>
                    <a:pt x="55" y="231"/>
                    <a:pt x="72" y="246"/>
                  </a:cubicBezTo>
                  <a:cubicBezTo>
                    <a:pt x="79" y="252"/>
                    <a:pt x="87" y="259"/>
                    <a:pt x="95" y="267"/>
                  </a:cubicBezTo>
                  <a:cubicBezTo>
                    <a:pt x="97" y="268"/>
                    <a:pt x="98" y="269"/>
                    <a:pt x="99" y="270"/>
                  </a:cubicBezTo>
                  <a:cubicBezTo>
                    <a:pt x="103" y="274"/>
                    <a:pt x="108" y="278"/>
                    <a:pt x="113" y="283"/>
                  </a:cubicBezTo>
                  <a:cubicBezTo>
                    <a:pt x="133" y="272"/>
                    <a:pt x="150" y="241"/>
                    <a:pt x="170" y="207"/>
                  </a:cubicBezTo>
                  <a:cubicBezTo>
                    <a:pt x="203" y="151"/>
                    <a:pt x="196" y="72"/>
                    <a:pt x="155" y="31"/>
                  </a:cubicBezTo>
                  <a:cubicBezTo>
                    <a:pt x="126" y="2"/>
                    <a:pt x="88" y="0"/>
                    <a:pt x="56" y="22"/>
                  </a:cubicBezTo>
                  <a:cubicBezTo>
                    <a:pt x="44" y="31"/>
                    <a:pt x="32" y="43"/>
                    <a:pt x="22" y="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" name="Freeform 28">
              <a:extLst>
                <a:ext uri="{FF2B5EF4-FFF2-40B4-BE49-F238E27FC236}">
                  <a16:creationId xmlns:a16="http://schemas.microsoft.com/office/drawing/2014/main" id="{25CB49FC-A9DF-453B-8F9F-870F4AA7F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6250" y="3368675"/>
              <a:ext cx="1438275" cy="1476375"/>
            </a:xfrm>
            <a:custGeom>
              <a:avLst/>
              <a:gdLst>
                <a:gd name="T0" fmla="*/ 381 w 382"/>
                <a:gd name="T1" fmla="*/ 346 h 392"/>
                <a:gd name="T2" fmla="*/ 374 w 382"/>
                <a:gd name="T3" fmla="*/ 338 h 392"/>
                <a:gd name="T4" fmla="*/ 80 w 382"/>
                <a:gd name="T5" fmla="*/ 67 h 392"/>
                <a:gd name="T6" fmla="*/ 66 w 382"/>
                <a:gd name="T7" fmla="*/ 54 h 392"/>
                <a:gd name="T8" fmla="*/ 62 w 382"/>
                <a:gd name="T9" fmla="*/ 51 h 392"/>
                <a:gd name="T10" fmla="*/ 39 w 382"/>
                <a:gd name="T11" fmla="*/ 30 h 392"/>
                <a:gd name="T12" fmla="*/ 1 w 382"/>
                <a:gd name="T13" fmla="*/ 0 h 392"/>
                <a:gd name="T14" fmla="*/ 1 w 382"/>
                <a:gd name="T15" fmla="*/ 0 h 392"/>
                <a:gd name="T16" fmla="*/ 1 w 382"/>
                <a:gd name="T17" fmla="*/ 0 h 392"/>
                <a:gd name="T18" fmla="*/ 1 w 382"/>
                <a:gd name="T19" fmla="*/ 0 h 392"/>
                <a:gd name="T20" fmla="*/ 1 w 382"/>
                <a:gd name="T21" fmla="*/ 2 h 392"/>
                <a:gd name="T22" fmla="*/ 57 w 382"/>
                <a:gd name="T23" fmla="*/ 69 h 392"/>
                <a:gd name="T24" fmla="*/ 70 w 382"/>
                <a:gd name="T25" fmla="*/ 84 h 392"/>
                <a:gd name="T26" fmla="*/ 71 w 382"/>
                <a:gd name="T27" fmla="*/ 85 h 392"/>
                <a:gd name="T28" fmla="*/ 347 w 382"/>
                <a:gd name="T29" fmla="*/ 384 h 392"/>
                <a:gd name="T30" fmla="*/ 355 w 382"/>
                <a:gd name="T31" fmla="*/ 392 h 392"/>
                <a:gd name="T32" fmla="*/ 358 w 382"/>
                <a:gd name="T33" fmla="*/ 391 h 392"/>
                <a:gd name="T34" fmla="*/ 374 w 382"/>
                <a:gd name="T35" fmla="*/ 376 h 392"/>
                <a:gd name="T36" fmla="*/ 381 w 382"/>
                <a:gd name="T37" fmla="*/ 351 h 392"/>
                <a:gd name="T38" fmla="*/ 381 w 382"/>
                <a:gd name="T39" fmla="*/ 346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82" h="392">
                  <a:moveTo>
                    <a:pt x="381" y="346"/>
                  </a:moveTo>
                  <a:cubicBezTo>
                    <a:pt x="381" y="346"/>
                    <a:pt x="379" y="343"/>
                    <a:pt x="374" y="338"/>
                  </a:cubicBezTo>
                  <a:cubicBezTo>
                    <a:pt x="337" y="304"/>
                    <a:pt x="177" y="154"/>
                    <a:pt x="80" y="67"/>
                  </a:cubicBezTo>
                  <a:cubicBezTo>
                    <a:pt x="75" y="62"/>
                    <a:pt x="70" y="58"/>
                    <a:pt x="66" y="54"/>
                  </a:cubicBezTo>
                  <a:cubicBezTo>
                    <a:pt x="65" y="53"/>
                    <a:pt x="64" y="52"/>
                    <a:pt x="62" y="51"/>
                  </a:cubicBezTo>
                  <a:cubicBezTo>
                    <a:pt x="54" y="43"/>
                    <a:pt x="46" y="36"/>
                    <a:pt x="39" y="30"/>
                  </a:cubicBezTo>
                  <a:cubicBezTo>
                    <a:pt x="22" y="15"/>
                    <a:pt x="4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1" y="1"/>
                    <a:pt x="1" y="2"/>
                  </a:cubicBezTo>
                  <a:cubicBezTo>
                    <a:pt x="3" y="9"/>
                    <a:pt x="31" y="40"/>
                    <a:pt x="57" y="69"/>
                  </a:cubicBezTo>
                  <a:cubicBezTo>
                    <a:pt x="61" y="73"/>
                    <a:pt x="65" y="78"/>
                    <a:pt x="70" y="84"/>
                  </a:cubicBezTo>
                  <a:cubicBezTo>
                    <a:pt x="71" y="84"/>
                    <a:pt x="71" y="85"/>
                    <a:pt x="71" y="85"/>
                  </a:cubicBezTo>
                  <a:cubicBezTo>
                    <a:pt x="162" y="186"/>
                    <a:pt x="312" y="347"/>
                    <a:pt x="347" y="384"/>
                  </a:cubicBezTo>
                  <a:cubicBezTo>
                    <a:pt x="352" y="389"/>
                    <a:pt x="355" y="392"/>
                    <a:pt x="355" y="392"/>
                  </a:cubicBezTo>
                  <a:cubicBezTo>
                    <a:pt x="355" y="392"/>
                    <a:pt x="356" y="392"/>
                    <a:pt x="358" y="391"/>
                  </a:cubicBezTo>
                  <a:cubicBezTo>
                    <a:pt x="362" y="390"/>
                    <a:pt x="367" y="386"/>
                    <a:pt x="374" y="376"/>
                  </a:cubicBezTo>
                  <a:cubicBezTo>
                    <a:pt x="380" y="365"/>
                    <a:pt x="381" y="356"/>
                    <a:pt x="381" y="351"/>
                  </a:cubicBezTo>
                  <a:cubicBezTo>
                    <a:pt x="382" y="348"/>
                    <a:pt x="381" y="346"/>
                    <a:pt x="381" y="3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7228C1D4-BBD5-4AEC-B275-967FFDED0241}"/>
              </a:ext>
            </a:extLst>
          </p:cNvPr>
          <p:cNvSpPr/>
          <p:nvPr/>
        </p:nvSpPr>
        <p:spPr>
          <a:xfrm>
            <a:off x="3428961" y="3622120"/>
            <a:ext cx="330506" cy="319489"/>
          </a:xfrm>
          <a:prstGeom prst="rightArrow">
            <a:avLst/>
          </a:prstGeom>
          <a:solidFill>
            <a:srgbClr val="0159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857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6F0A18-19C2-4509-9C36-20D8A254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243950"/>
            <a:ext cx="6761100" cy="857400"/>
          </a:xfrm>
        </p:spPr>
        <p:txBody>
          <a:bodyPr/>
          <a:lstStyle/>
          <a:p>
            <a:r>
              <a:rPr lang="it-IT" dirty="0"/>
              <a:t>Descrizione del dataset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1FA996-B754-45F6-A5D2-48D4049CB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709" y="1636898"/>
            <a:ext cx="3981291" cy="1827791"/>
          </a:xfrm>
        </p:spPr>
        <p:txBody>
          <a:bodyPr/>
          <a:lstStyle/>
          <a:p>
            <a:pPr>
              <a:buClr>
                <a:srgbClr val="0A859F"/>
              </a:buClr>
            </a:pPr>
            <a:r>
              <a:rPr lang="it-IT" sz="2100" dirty="0"/>
              <a:t>N = 7200</a:t>
            </a:r>
          </a:p>
          <a:p>
            <a:pPr>
              <a:buClr>
                <a:srgbClr val="0A859F"/>
              </a:buClr>
            </a:pPr>
            <a:r>
              <a:rPr lang="it-IT" sz="2100" dirty="0"/>
              <a:t>Nessun valore mancante</a:t>
            </a:r>
          </a:p>
          <a:p>
            <a:pPr>
              <a:buClr>
                <a:srgbClr val="0A859F"/>
              </a:buClr>
            </a:pPr>
            <a:r>
              <a:rPr lang="it-IT" sz="2100" dirty="0" err="1"/>
              <a:t>X</a:t>
            </a:r>
            <a:r>
              <a:rPr lang="it-IT" sz="2100" i="1" baseline="-25000" dirty="0" err="1"/>
              <a:t>i</a:t>
            </a:r>
            <a:r>
              <a:rPr lang="it-IT" sz="2100" i="1" baseline="-25000" dirty="0"/>
              <a:t>   </a:t>
            </a:r>
            <a:r>
              <a:rPr lang="it-IT" sz="2100" dirty="0"/>
              <a:t>con i = 1, …, 21</a:t>
            </a:r>
          </a:p>
          <a:p>
            <a:pPr lvl="1">
              <a:buClr>
                <a:srgbClr val="0A859F"/>
              </a:buClr>
            </a:pPr>
            <a:r>
              <a:rPr lang="it-IT" sz="2100" dirty="0"/>
              <a:t>6 variabili quantitative</a:t>
            </a:r>
          </a:p>
          <a:p>
            <a:pPr lvl="1">
              <a:buClr>
                <a:srgbClr val="0A859F"/>
              </a:buClr>
            </a:pPr>
            <a:r>
              <a:rPr lang="it-IT" sz="2100" dirty="0"/>
              <a:t>15 variabili categoriali</a:t>
            </a:r>
          </a:p>
          <a:p>
            <a:pPr marL="533400" lvl="1" indent="0">
              <a:buNone/>
            </a:pPr>
            <a:endParaRPr lang="it-IT" sz="2100" dirty="0"/>
          </a:p>
          <a:p>
            <a:pPr marL="533400" lvl="1" indent="0">
              <a:buNone/>
            </a:pPr>
            <a:r>
              <a:rPr lang="it-IT" dirty="0"/>
              <a:t>	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0866CB-FEC0-4EB4-82F3-2F98F4FF84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4</a:t>
            </a:fld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4BC238B-CD15-49CD-B1E1-6FE5FD84BDFC}"/>
              </a:ext>
            </a:extLst>
          </p:cNvPr>
          <p:cNvSpPr txBox="1"/>
          <p:nvPr/>
        </p:nvSpPr>
        <p:spPr>
          <a:xfrm>
            <a:off x="4572000" y="4000237"/>
            <a:ext cx="286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3B55"/>
                </a:solidFill>
                <a:latin typeface="Titillium Web Light"/>
                <a:sym typeface="Titillium Web Light"/>
              </a:rPr>
              <a:t>Distribuzione della variabile risposta</a:t>
            </a:r>
          </a:p>
        </p:txBody>
      </p:sp>
      <p:graphicFrame>
        <p:nvGraphicFramePr>
          <p:cNvPr id="7" name="Chart 3">
            <a:extLst>
              <a:ext uri="{FF2B5EF4-FFF2-40B4-BE49-F238E27FC236}">
                <a16:creationId xmlns:a16="http://schemas.microsoft.com/office/drawing/2014/main" id="{F08D09C9-36CE-46C9-BCE3-855299397F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4944317"/>
              </p:ext>
            </p:extLst>
          </p:nvPr>
        </p:nvGraphicFramePr>
        <p:xfrm>
          <a:off x="3848984" y="1286851"/>
          <a:ext cx="3981291" cy="2644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2969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F8EC44-06AA-4AD8-BDED-3E9F1BE3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930" y="102779"/>
            <a:ext cx="6761100" cy="857400"/>
          </a:xfrm>
        </p:spPr>
        <p:txBody>
          <a:bodyPr/>
          <a:lstStyle/>
          <a:p>
            <a:r>
              <a:rPr lang="it-IT" dirty="0"/>
              <a:t>Analisi descrittive ed esplorative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04046D-DF6B-4CFC-9EAB-049224F183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5</a:t>
            </a:fld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3B39DD9-1FFC-4B2B-9F53-3D238282C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81" y="1192335"/>
            <a:ext cx="3063119" cy="3178659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0F51164-C2C6-48D1-916C-E43BA5913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578" y="1520456"/>
            <a:ext cx="3737094" cy="3061245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128B669-7758-4942-8589-DF004B966D10}"/>
              </a:ext>
            </a:extLst>
          </p:cNvPr>
          <p:cNvSpPr txBox="1"/>
          <p:nvPr/>
        </p:nvSpPr>
        <p:spPr>
          <a:xfrm>
            <a:off x="640231" y="4603898"/>
            <a:ext cx="3380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solidFill>
                  <a:srgbClr val="003B55"/>
                </a:solidFill>
                <a:latin typeface="Titillium Web Light"/>
                <a:sym typeface="Titillium Web Light"/>
              </a:rPr>
              <a:t>Boxplot</a:t>
            </a:r>
            <a:r>
              <a:rPr lang="it-IT" sz="1200" dirty="0">
                <a:solidFill>
                  <a:srgbClr val="003B55"/>
                </a:solidFill>
                <a:latin typeface="Titillium Web Light"/>
                <a:sym typeface="Titillium Web Light"/>
              </a:rPr>
              <a:t> condizionati alla variabile target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22340D5-7C71-4952-BC24-D14E4D98C261}"/>
              </a:ext>
            </a:extLst>
          </p:cNvPr>
          <p:cNvSpPr txBox="1"/>
          <p:nvPr/>
        </p:nvSpPr>
        <p:spPr>
          <a:xfrm>
            <a:off x="4308779" y="4581701"/>
            <a:ext cx="3380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solidFill>
                  <a:srgbClr val="003B55"/>
                </a:solidFill>
                <a:latin typeface="Titillium Web Light"/>
              </a:rPr>
              <a:t>Corrplot</a:t>
            </a:r>
            <a:r>
              <a:rPr lang="it-IT" sz="1200" dirty="0">
                <a:solidFill>
                  <a:srgbClr val="003B55"/>
                </a:solidFill>
                <a:latin typeface="Titillium Web Light"/>
              </a:rPr>
              <a:t> delle variabili quantitative</a:t>
            </a:r>
          </a:p>
        </p:txBody>
      </p:sp>
    </p:spTree>
    <p:extLst>
      <p:ext uri="{BB962C8B-B14F-4D97-AF65-F5344CB8AC3E}">
        <p14:creationId xmlns:p14="http://schemas.microsoft.com/office/powerpoint/2010/main" val="285419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D771F0-025F-40CA-B0ED-7D83E7E8D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201934"/>
            <a:ext cx="6761100" cy="857400"/>
          </a:xfrm>
        </p:spPr>
        <p:txBody>
          <a:bodyPr/>
          <a:lstStyle/>
          <a:p>
            <a:r>
              <a:rPr lang="it-IT" dirty="0"/>
              <a:t>Modelli implementati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BA11C29-EE36-4ECA-851F-88EC6F4E9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231" y="1328054"/>
            <a:ext cx="6761100" cy="3123426"/>
          </a:xfrm>
        </p:spPr>
        <p:txBody>
          <a:bodyPr/>
          <a:lstStyle/>
          <a:p>
            <a:pPr>
              <a:buClr>
                <a:srgbClr val="0A859F"/>
              </a:buClr>
            </a:pPr>
            <a:r>
              <a:rPr lang="it-IT" sz="2300" dirty="0"/>
              <a:t>Analisi discriminante quadratica (</a:t>
            </a:r>
            <a:r>
              <a:rPr lang="it-IT" sz="2300" b="1" dirty="0"/>
              <a:t>QDA</a:t>
            </a:r>
            <a:r>
              <a:rPr lang="it-IT" sz="2300" dirty="0"/>
              <a:t>)</a:t>
            </a:r>
          </a:p>
          <a:p>
            <a:pPr>
              <a:buClr>
                <a:srgbClr val="0A859F"/>
              </a:buClr>
            </a:pPr>
            <a:r>
              <a:rPr lang="it-IT" sz="2300" dirty="0"/>
              <a:t>Albero di classificazione </a:t>
            </a:r>
          </a:p>
          <a:p>
            <a:pPr lvl="1">
              <a:buClr>
                <a:srgbClr val="0A859F"/>
              </a:buClr>
            </a:pPr>
            <a:r>
              <a:rPr lang="it-IT" sz="2300" b="1" dirty="0" err="1"/>
              <a:t>pruned</a:t>
            </a:r>
            <a:endParaRPr lang="it-IT" sz="2300" b="1" dirty="0"/>
          </a:p>
          <a:p>
            <a:pPr lvl="1">
              <a:buClr>
                <a:srgbClr val="0A859F"/>
              </a:buClr>
            </a:pPr>
            <a:r>
              <a:rPr lang="it-IT" sz="2300" b="1" dirty="0"/>
              <a:t>no </a:t>
            </a:r>
            <a:r>
              <a:rPr lang="it-IT" sz="2300" b="1" dirty="0" err="1"/>
              <a:t>pruned</a:t>
            </a:r>
            <a:endParaRPr lang="it-IT" sz="2300" b="1" dirty="0"/>
          </a:p>
          <a:p>
            <a:pPr marL="533400" lvl="1" indent="0">
              <a:buNone/>
            </a:pPr>
            <a:endParaRPr lang="it-IT" sz="2300" dirty="0"/>
          </a:p>
          <a:p>
            <a:pPr marL="76200" indent="0">
              <a:buNone/>
            </a:pPr>
            <a:r>
              <a:rPr lang="it-IT" sz="2300" dirty="0"/>
              <a:t>Tutti i modelli sono stati trattati sia sul dataset </a:t>
            </a:r>
            <a:r>
              <a:rPr lang="it-IT" sz="2300" b="1" dirty="0"/>
              <a:t>bilanciato</a:t>
            </a:r>
            <a:r>
              <a:rPr lang="it-IT" sz="2300" dirty="0"/>
              <a:t> che </a:t>
            </a:r>
            <a:r>
              <a:rPr lang="it-IT" sz="2300" b="1" dirty="0"/>
              <a:t>non bilanciato</a:t>
            </a:r>
            <a:r>
              <a:rPr lang="it-IT" sz="2300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F9C58C-3204-4FD1-A24A-BAF69FE9BA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213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Shape 3858"/>
          <p:cNvSpPr txBox="1">
            <a:spLocks noGrp="1"/>
          </p:cNvSpPr>
          <p:nvPr>
            <p:ph type="ctrTitle"/>
          </p:nvPr>
        </p:nvSpPr>
        <p:spPr>
          <a:xfrm>
            <a:off x="696433" y="2177001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Risultati sul dataset  non bilanciato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C751F6-770C-47A7-99D2-C5FBA6EE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341" y="194282"/>
            <a:ext cx="6761100" cy="857400"/>
          </a:xfrm>
        </p:spPr>
        <p:txBody>
          <a:bodyPr/>
          <a:lstStyle/>
          <a:p>
            <a:r>
              <a:rPr lang="it-IT" dirty="0"/>
              <a:t>Analisi discriminante quadratica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3F2C6B6-F53C-4F0C-8877-1A8C395DB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881" y="1072783"/>
            <a:ext cx="7276832" cy="857400"/>
          </a:xfrm>
        </p:spPr>
        <p:txBody>
          <a:bodyPr/>
          <a:lstStyle/>
          <a:p>
            <a:pPr>
              <a:buClr>
                <a:srgbClr val="0A859F"/>
              </a:buClr>
            </a:pPr>
            <a:r>
              <a:rPr lang="it-IT" sz="2000" b="1" dirty="0"/>
              <a:t>Distribuzione non normale di TSH</a:t>
            </a:r>
            <a:r>
              <a:rPr lang="it-IT" sz="2000" dirty="0"/>
              <a:t>: trasformazione Box-</a:t>
            </a:r>
            <a:r>
              <a:rPr lang="it-IT" sz="2000" dirty="0" err="1"/>
              <a:t>Cox</a:t>
            </a:r>
            <a:endParaRPr lang="it-IT" sz="2000" dirty="0"/>
          </a:p>
          <a:p>
            <a:endParaRPr lang="it-IT" sz="2000" dirty="0"/>
          </a:p>
          <a:p>
            <a:endParaRPr lang="it-IT" sz="20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DC0232F-764F-4802-B348-0B8AA02BF9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8</a:t>
            </a:fld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E7CCD88-D2CD-4115-8EA2-82C399CC2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337" y="1501483"/>
            <a:ext cx="4567920" cy="2420736"/>
          </a:xfrm>
          <a:prstGeom prst="rect">
            <a:avLst/>
          </a:prstGeom>
        </p:spPr>
      </p:pic>
      <p:sp>
        <p:nvSpPr>
          <p:cNvPr id="10" name="Segnaposto testo 2">
            <a:extLst>
              <a:ext uri="{FF2B5EF4-FFF2-40B4-BE49-F238E27FC236}">
                <a16:creationId xmlns:a16="http://schemas.microsoft.com/office/drawing/2014/main" id="{D90EA71A-3B3E-4292-8534-291BB0D4A403}"/>
              </a:ext>
            </a:extLst>
          </p:cNvPr>
          <p:cNvSpPr txBox="1">
            <a:spLocks/>
          </p:cNvSpPr>
          <p:nvPr/>
        </p:nvSpPr>
        <p:spPr>
          <a:xfrm>
            <a:off x="365881" y="3922219"/>
            <a:ext cx="7276832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>
              <a:buClr>
                <a:srgbClr val="0A859F"/>
              </a:buClr>
            </a:pPr>
            <a:r>
              <a:rPr lang="it-IT" sz="2000" b="1" dirty="0"/>
              <a:t>Test di </a:t>
            </a:r>
            <a:r>
              <a:rPr lang="it-IT" sz="2000" b="1" dirty="0" err="1"/>
              <a:t>Bartlett</a:t>
            </a:r>
            <a:r>
              <a:rPr lang="it-IT" sz="2000" dirty="0"/>
              <a:t> (H</a:t>
            </a:r>
            <a:r>
              <a:rPr lang="it-IT" sz="2000" baseline="-25000" dirty="0"/>
              <a:t>0 </a:t>
            </a:r>
            <a:r>
              <a:rPr lang="it-IT" sz="2000" dirty="0"/>
              <a:t>= omoschedasticità dei dati)</a:t>
            </a:r>
          </a:p>
          <a:p>
            <a:endParaRPr lang="it-IT" sz="2000" dirty="0"/>
          </a:p>
          <a:p>
            <a:endParaRPr lang="it-IT" sz="2000" dirty="0"/>
          </a:p>
          <a:p>
            <a:pPr lvl="5"/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68588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C751F6-770C-47A7-99D2-C5FBA6EE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62" y="132749"/>
            <a:ext cx="6761100" cy="857400"/>
          </a:xfrm>
        </p:spPr>
        <p:txBody>
          <a:bodyPr/>
          <a:lstStyle/>
          <a:p>
            <a:r>
              <a:rPr lang="it-IT" dirty="0"/>
              <a:t>Analisi discriminante quadratica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DC0232F-764F-4802-B348-0B8AA02BF9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9</a:t>
            </a:fld>
            <a:endParaRPr lang="it-IT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2B4286F8-3DAA-498A-81FC-3EE410036454}"/>
              </a:ext>
            </a:extLst>
          </p:cNvPr>
          <p:cNvSpPr txBox="1">
            <a:spLocks/>
          </p:cNvSpPr>
          <p:nvPr/>
        </p:nvSpPr>
        <p:spPr>
          <a:xfrm>
            <a:off x="607362" y="831596"/>
            <a:ext cx="7276832" cy="74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>
              <a:buClr>
                <a:srgbClr val="0A859F"/>
              </a:buClr>
            </a:pPr>
            <a:r>
              <a:rPr lang="it-IT" sz="2000" dirty="0"/>
              <a:t>Variabili utilizzate: </a:t>
            </a:r>
            <a:r>
              <a:rPr lang="it-IT" sz="2000" b="1" dirty="0"/>
              <a:t>FTI</a:t>
            </a:r>
            <a:r>
              <a:rPr lang="it-IT" sz="2000" dirty="0"/>
              <a:t>, </a:t>
            </a:r>
            <a:r>
              <a:rPr lang="it-IT" sz="2000" b="1" dirty="0"/>
              <a:t>T4U </a:t>
            </a:r>
            <a:r>
              <a:rPr lang="it-IT" sz="2000" dirty="0"/>
              <a:t>e</a:t>
            </a:r>
            <a:r>
              <a:rPr lang="it-IT" sz="2000" b="1" dirty="0"/>
              <a:t> T3</a:t>
            </a:r>
          </a:p>
          <a:p>
            <a:pPr>
              <a:buClr>
                <a:srgbClr val="0A859F"/>
              </a:buClr>
            </a:pPr>
            <a:r>
              <a:rPr lang="it-IT" sz="2000" dirty="0" err="1"/>
              <a:t>Accuracy</a:t>
            </a:r>
            <a:r>
              <a:rPr lang="it-IT" sz="2000" dirty="0"/>
              <a:t>: </a:t>
            </a:r>
            <a:r>
              <a:rPr lang="it-IT" sz="2000" b="1" dirty="0"/>
              <a:t>0,936</a:t>
            </a:r>
          </a:p>
          <a:p>
            <a:endParaRPr lang="it-IT" sz="20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251011F-1DA8-4C12-BB5B-B15CFDD4C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723" y="1688996"/>
            <a:ext cx="2934109" cy="2734057"/>
          </a:xfrm>
          <a:prstGeom prst="rect">
            <a:avLst/>
          </a:prstGeom>
        </p:spPr>
      </p:pic>
      <p:sp>
        <p:nvSpPr>
          <p:cNvPr id="9" name="Segnaposto testo 2">
            <a:extLst>
              <a:ext uri="{FF2B5EF4-FFF2-40B4-BE49-F238E27FC236}">
                <a16:creationId xmlns:a16="http://schemas.microsoft.com/office/drawing/2014/main" id="{5EC48029-B2CB-4170-A98F-5A7E5A77278F}"/>
              </a:ext>
            </a:extLst>
          </p:cNvPr>
          <p:cNvSpPr txBox="1">
            <a:spLocks/>
          </p:cNvSpPr>
          <p:nvPr/>
        </p:nvSpPr>
        <p:spPr>
          <a:xfrm>
            <a:off x="3631787" y="4423053"/>
            <a:ext cx="1651413" cy="43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it-IT" sz="1200" dirty="0">
                <a:solidFill>
                  <a:srgbClr val="0B87A1"/>
                </a:solidFill>
                <a:latin typeface="Dosis Light"/>
              </a:rPr>
              <a:t>Matrice di confusione </a:t>
            </a:r>
          </a:p>
        </p:txBody>
      </p:sp>
    </p:spTree>
    <p:extLst>
      <p:ext uri="{BB962C8B-B14F-4D97-AF65-F5344CB8AC3E}">
        <p14:creationId xmlns:p14="http://schemas.microsoft.com/office/powerpoint/2010/main" val="786161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900100-7877-4A19-AC6E-A1D837F4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194374"/>
            <a:ext cx="6761100" cy="857400"/>
          </a:xfrm>
        </p:spPr>
        <p:txBody>
          <a:bodyPr/>
          <a:lstStyle/>
          <a:p>
            <a:r>
              <a:rPr lang="it-IT" dirty="0"/>
              <a:t>Albero di classificazione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D55337-AACA-409C-94B6-BBF0163CE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231" y="1051774"/>
            <a:ext cx="6761100" cy="2453786"/>
          </a:xfrm>
        </p:spPr>
        <p:txBody>
          <a:bodyPr/>
          <a:lstStyle/>
          <a:p>
            <a:pPr>
              <a:buClr>
                <a:srgbClr val="0A859F"/>
              </a:buClr>
              <a:buFont typeface="Wingdings" panose="05000000000000000000" pitchFamily="2" charset="2"/>
              <a:buChar char="§"/>
            </a:pPr>
            <a:r>
              <a:rPr lang="it-IT" sz="2000" dirty="0"/>
              <a:t>No feature </a:t>
            </a:r>
            <a:r>
              <a:rPr lang="it-IT" sz="2000" dirty="0" err="1"/>
              <a:t>selection</a:t>
            </a:r>
            <a:endParaRPr lang="it-IT" sz="2000" dirty="0"/>
          </a:p>
          <a:p>
            <a:pPr marL="76200" indent="0">
              <a:buClr>
                <a:srgbClr val="0A859F"/>
              </a:buClr>
              <a:buNone/>
            </a:pPr>
            <a:r>
              <a:rPr lang="it-IT" sz="2300" dirty="0">
                <a:solidFill>
                  <a:srgbClr val="0B87A1"/>
                </a:solidFill>
                <a:latin typeface="Titillium Web Light" panose="020B0604020202020204" charset="0"/>
                <a:sym typeface="Dosis Light"/>
              </a:rPr>
              <a:t>No </a:t>
            </a:r>
            <a:r>
              <a:rPr lang="it-IT" sz="2300" dirty="0" err="1">
                <a:solidFill>
                  <a:srgbClr val="0B87A1"/>
                </a:solidFill>
                <a:latin typeface="Titillium Web Light" panose="020B0604020202020204" charset="0"/>
                <a:sym typeface="Dosis Light"/>
              </a:rPr>
              <a:t>pruned</a:t>
            </a:r>
            <a:endParaRPr lang="it-IT" sz="2300" dirty="0">
              <a:solidFill>
                <a:srgbClr val="0B87A1"/>
              </a:solidFill>
              <a:latin typeface="Titillium Web Light" panose="020B0604020202020204" charset="0"/>
              <a:sym typeface="Dosis Light"/>
            </a:endParaRPr>
          </a:p>
          <a:p>
            <a:pPr>
              <a:buClr>
                <a:srgbClr val="0A859F"/>
              </a:buClr>
              <a:buFont typeface="Wingdings" panose="05000000000000000000" pitchFamily="2" charset="2"/>
              <a:buChar char="§"/>
            </a:pPr>
            <a:r>
              <a:rPr lang="it-IT" sz="2000" dirty="0" err="1"/>
              <a:t>Accuracy</a:t>
            </a:r>
            <a:r>
              <a:rPr lang="it-IT" sz="2000" dirty="0"/>
              <a:t>: </a:t>
            </a:r>
            <a:r>
              <a:rPr lang="it-IT" sz="2000" b="1" dirty="0"/>
              <a:t>0,995</a:t>
            </a:r>
          </a:p>
          <a:p>
            <a:pPr marL="76200" indent="0">
              <a:buClr>
                <a:srgbClr val="0A859F"/>
              </a:buClr>
              <a:buNone/>
            </a:pPr>
            <a:r>
              <a:rPr lang="it-IT" sz="2300" dirty="0" err="1">
                <a:solidFill>
                  <a:srgbClr val="0B87A1"/>
                </a:solidFill>
                <a:latin typeface="Titillium Web Light" panose="020B0604020202020204" charset="0"/>
              </a:rPr>
              <a:t>Pruned</a:t>
            </a:r>
            <a:endParaRPr lang="it-IT" sz="2300" dirty="0">
              <a:solidFill>
                <a:srgbClr val="0B87A1"/>
              </a:solidFill>
              <a:latin typeface="Titillium Web Light" panose="020B0604020202020204" charset="0"/>
            </a:endParaRPr>
          </a:p>
          <a:p>
            <a:pPr>
              <a:buClr>
                <a:srgbClr val="0A859F"/>
              </a:buClr>
              <a:buFont typeface="Wingdings" panose="05000000000000000000" pitchFamily="2" charset="2"/>
              <a:buChar char="§"/>
            </a:pPr>
            <a:r>
              <a:rPr lang="it-IT" sz="2000" dirty="0"/>
              <a:t>Parametri utilizzati: </a:t>
            </a:r>
            <a:r>
              <a:rPr lang="it-IT" sz="2000" dirty="0" err="1"/>
              <a:t>minsize</a:t>
            </a:r>
            <a:r>
              <a:rPr lang="it-IT" sz="2000" dirty="0"/>
              <a:t> = 40  e </a:t>
            </a:r>
            <a:r>
              <a:rPr lang="it-IT" sz="2000" dirty="0" err="1"/>
              <a:t>mincut</a:t>
            </a:r>
            <a:r>
              <a:rPr lang="it-IT" sz="2000" dirty="0"/>
              <a:t> = 20</a:t>
            </a:r>
          </a:p>
          <a:p>
            <a:pPr>
              <a:buClr>
                <a:srgbClr val="0A859F"/>
              </a:buClr>
              <a:buFont typeface="Wingdings" panose="05000000000000000000" pitchFamily="2" charset="2"/>
              <a:buChar char="§"/>
            </a:pPr>
            <a:r>
              <a:rPr lang="it-IT" sz="2000" dirty="0" err="1"/>
              <a:t>Accuracy</a:t>
            </a:r>
            <a:r>
              <a:rPr lang="it-IT" sz="2000" dirty="0"/>
              <a:t>: </a:t>
            </a:r>
            <a:r>
              <a:rPr lang="it-IT" sz="2000" b="1" dirty="0"/>
              <a:t>0,989</a:t>
            </a:r>
          </a:p>
          <a:p>
            <a:endParaRPr lang="it-IT" dirty="0"/>
          </a:p>
          <a:p>
            <a:pPr marL="76200" indent="0">
              <a:buNone/>
            </a:pPr>
            <a:endParaRPr lang="it-IT" sz="2500" dirty="0">
              <a:solidFill>
                <a:srgbClr val="0B87A1"/>
              </a:solidFill>
              <a:latin typeface="Dosis Ligh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4E6816-05F0-4A9F-A9B8-16B8EC082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10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C052382-15B4-4F66-9EED-9109755D4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02" y="3229446"/>
            <a:ext cx="2932939" cy="167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14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Shape 3858"/>
          <p:cNvSpPr txBox="1">
            <a:spLocks noGrp="1"/>
          </p:cNvSpPr>
          <p:nvPr>
            <p:ph type="ctrTitle"/>
          </p:nvPr>
        </p:nvSpPr>
        <p:spPr>
          <a:xfrm>
            <a:off x="696433" y="2177001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Risultati sul dataset  bilanciato</a:t>
            </a:r>
          </a:p>
        </p:txBody>
      </p:sp>
    </p:spTree>
    <p:extLst>
      <p:ext uri="{BB962C8B-B14F-4D97-AF65-F5344CB8AC3E}">
        <p14:creationId xmlns:p14="http://schemas.microsoft.com/office/powerpoint/2010/main" val="4209768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900100-7877-4A19-AC6E-A1D837F4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194374"/>
            <a:ext cx="6761100" cy="857400"/>
          </a:xfrm>
        </p:spPr>
        <p:txBody>
          <a:bodyPr/>
          <a:lstStyle/>
          <a:p>
            <a:r>
              <a:rPr lang="it-IT" dirty="0"/>
              <a:t>Tecniche di bilanciamento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D55337-AACA-409C-94B6-BBF0163CE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231" y="1051774"/>
            <a:ext cx="6761100" cy="3665899"/>
          </a:xfrm>
        </p:spPr>
        <p:txBody>
          <a:bodyPr/>
          <a:lstStyle/>
          <a:p>
            <a:pPr>
              <a:buClr>
                <a:srgbClr val="0A859F"/>
              </a:buClr>
            </a:pPr>
            <a:r>
              <a:rPr lang="it-IT" b="1" dirty="0" err="1"/>
              <a:t>Undersampling</a:t>
            </a:r>
            <a:r>
              <a:rPr lang="it-IT" dirty="0"/>
              <a:t>: N = 1650</a:t>
            </a:r>
          </a:p>
          <a:p>
            <a:pPr lvl="1">
              <a:buClr>
                <a:srgbClr val="0A859F"/>
              </a:buClr>
            </a:pPr>
            <a:r>
              <a:rPr lang="it-IT" dirty="0"/>
              <a:t>10% : classe 1</a:t>
            </a:r>
          </a:p>
          <a:p>
            <a:pPr lvl="1">
              <a:buClr>
                <a:srgbClr val="0A859F"/>
              </a:buClr>
            </a:pPr>
            <a:r>
              <a:rPr lang="it-IT" dirty="0"/>
              <a:t>20% : classe 2</a:t>
            </a:r>
          </a:p>
          <a:p>
            <a:pPr lvl="1">
              <a:buClr>
                <a:srgbClr val="0A859F"/>
              </a:buClr>
            </a:pPr>
            <a:r>
              <a:rPr lang="it-IT" dirty="0"/>
              <a:t>70% : classe 3	</a:t>
            </a:r>
          </a:p>
          <a:p>
            <a:pPr lvl="1">
              <a:buClr>
                <a:srgbClr val="0A859F"/>
              </a:buClr>
              <a:buFont typeface="Wingdings" panose="05000000000000000000" pitchFamily="2" charset="2"/>
              <a:buChar char="§"/>
            </a:pPr>
            <a:endParaRPr lang="it-IT" dirty="0"/>
          </a:p>
          <a:p>
            <a:pPr>
              <a:buClr>
                <a:srgbClr val="0A859F"/>
              </a:buClr>
              <a:buFont typeface="Wingdings" panose="05000000000000000000" pitchFamily="2" charset="2"/>
              <a:buChar char="§"/>
            </a:pPr>
            <a:r>
              <a:rPr lang="it-IT" b="1" dirty="0"/>
              <a:t>Oversampling</a:t>
            </a:r>
            <a:r>
              <a:rPr lang="it-IT" dirty="0"/>
              <a:t>: N = 3000</a:t>
            </a:r>
          </a:p>
          <a:p>
            <a:pPr lvl="1">
              <a:buClr>
                <a:srgbClr val="0A859F"/>
              </a:buClr>
            </a:pPr>
            <a:r>
              <a:rPr lang="it-IT" dirty="0"/>
              <a:t>20% : classe 1</a:t>
            </a:r>
          </a:p>
          <a:p>
            <a:pPr lvl="1">
              <a:buClr>
                <a:srgbClr val="0A859F"/>
              </a:buClr>
            </a:pPr>
            <a:r>
              <a:rPr lang="it-IT" dirty="0"/>
              <a:t>30% : classe 2</a:t>
            </a:r>
          </a:p>
          <a:p>
            <a:pPr lvl="1">
              <a:buClr>
                <a:srgbClr val="0A859F"/>
              </a:buClr>
            </a:pPr>
            <a:r>
              <a:rPr lang="it-IT" dirty="0"/>
              <a:t>50% : classe 3</a:t>
            </a:r>
          </a:p>
          <a:p>
            <a:pPr marL="76200" indent="0">
              <a:buNone/>
            </a:pPr>
            <a:endParaRPr lang="it-IT" sz="2500" dirty="0">
              <a:solidFill>
                <a:srgbClr val="0B87A1"/>
              </a:solidFill>
              <a:latin typeface="Dosis Ligh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4E6816-05F0-4A9F-A9B8-16B8EC082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3894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D202D2-7C65-4C1B-BF0E-14B37EF0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252936"/>
            <a:ext cx="6761100" cy="857400"/>
          </a:xfrm>
        </p:spPr>
        <p:txBody>
          <a:bodyPr/>
          <a:lstStyle/>
          <a:p>
            <a:r>
              <a:rPr lang="it-IT" dirty="0"/>
              <a:t>Risultati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6ADE97-0D57-4FB3-9340-07AFB9188A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13</a:t>
            </a:fld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40E921D-96CD-47BC-88CD-D096614D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373" y="1466961"/>
            <a:ext cx="5724816" cy="2209578"/>
          </a:xfrm>
          <a:prstGeom prst="rect">
            <a:avLst/>
          </a:prstGeom>
        </p:spPr>
      </p:pic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8BC8356B-8391-4074-8A3B-36786CAFA0B2}"/>
              </a:ext>
            </a:extLst>
          </p:cNvPr>
          <p:cNvSpPr txBox="1">
            <a:spLocks/>
          </p:cNvSpPr>
          <p:nvPr/>
        </p:nvSpPr>
        <p:spPr>
          <a:xfrm>
            <a:off x="640231" y="3711325"/>
            <a:ext cx="6761100" cy="143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>
              <a:buClr>
                <a:srgbClr val="0A859F"/>
              </a:buClr>
            </a:pPr>
            <a:r>
              <a:rPr lang="it-IT" dirty="0"/>
              <a:t>Risultati migliori ottenuti con la tecnica </a:t>
            </a:r>
            <a:r>
              <a:rPr lang="it-IT" b="1" dirty="0"/>
              <a:t>undersampling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2960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Shape 3858"/>
          <p:cNvSpPr txBox="1">
            <a:spLocks noGrp="1"/>
          </p:cNvSpPr>
          <p:nvPr>
            <p:ph type="ctrTitle"/>
          </p:nvPr>
        </p:nvSpPr>
        <p:spPr>
          <a:xfrm>
            <a:off x="696433" y="2177001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Risultati sul </a:t>
            </a:r>
            <a:br>
              <a:rPr lang="it-IT" dirty="0"/>
            </a:br>
            <a:r>
              <a:rPr lang="it-IT" dirty="0"/>
              <a:t>confronto a coppie</a:t>
            </a:r>
          </a:p>
        </p:txBody>
      </p:sp>
    </p:spTree>
    <p:extLst>
      <p:ext uri="{BB962C8B-B14F-4D97-AF65-F5344CB8AC3E}">
        <p14:creationId xmlns:p14="http://schemas.microsoft.com/office/powerpoint/2010/main" val="223667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D202D2-7C65-4C1B-BF0E-14B37EF0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165217"/>
            <a:ext cx="6761100" cy="857400"/>
          </a:xfrm>
        </p:spPr>
        <p:txBody>
          <a:bodyPr/>
          <a:lstStyle/>
          <a:p>
            <a:r>
              <a:rPr lang="it-IT" dirty="0"/>
              <a:t>Risultati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6ADE97-0D57-4FB3-9340-07AFB9188A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15</a:t>
            </a:fld>
            <a:endParaRPr lang="it-IT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18EB18BB-9BEC-46A8-9053-DC88CE3CB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102" y="1033238"/>
            <a:ext cx="3004639" cy="431227"/>
          </a:xfrm>
        </p:spPr>
        <p:txBody>
          <a:bodyPr/>
          <a:lstStyle/>
          <a:p>
            <a:pPr marL="76200" indent="0">
              <a:buNone/>
            </a:pPr>
            <a:r>
              <a:rPr lang="it-IT" sz="1200" dirty="0">
                <a:solidFill>
                  <a:srgbClr val="0B87A1"/>
                </a:solidFill>
                <a:latin typeface="Dosis Light"/>
              </a:rPr>
              <a:t>Confronto classe 1 e 3</a:t>
            </a:r>
          </a:p>
        </p:txBody>
      </p:sp>
      <p:sp>
        <p:nvSpPr>
          <p:cNvPr id="27" name="Segnaposto testo 2">
            <a:extLst>
              <a:ext uri="{FF2B5EF4-FFF2-40B4-BE49-F238E27FC236}">
                <a16:creationId xmlns:a16="http://schemas.microsoft.com/office/drawing/2014/main" id="{360EFED4-E5EE-4FAA-AE22-238B1F2C21C8}"/>
              </a:ext>
            </a:extLst>
          </p:cNvPr>
          <p:cNvSpPr txBox="1">
            <a:spLocks/>
          </p:cNvSpPr>
          <p:nvPr/>
        </p:nvSpPr>
        <p:spPr>
          <a:xfrm>
            <a:off x="640101" y="2857755"/>
            <a:ext cx="3004639" cy="43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it-IT" sz="1200" dirty="0">
                <a:solidFill>
                  <a:srgbClr val="0B87A1"/>
                </a:solidFill>
                <a:latin typeface="Dosis Light"/>
              </a:rPr>
              <a:t>Confronto classe 2 e 3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A756CAF3-3345-48DA-9E11-9A5329414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30" y="1475086"/>
            <a:ext cx="6949978" cy="1329458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01BA6066-2DA0-49EF-9B69-4850D7B6D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80" y="3292717"/>
            <a:ext cx="6988427" cy="134184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12970" y="1521532"/>
            <a:ext cx="914399" cy="12445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5667376" y="1521532"/>
            <a:ext cx="916304" cy="124452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ctangle 9"/>
          <p:cNvSpPr/>
          <p:nvPr/>
        </p:nvSpPr>
        <p:spPr>
          <a:xfrm>
            <a:off x="5697855" y="3348990"/>
            <a:ext cx="942975" cy="124532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ctangle 11"/>
          <p:cNvSpPr/>
          <p:nvPr/>
        </p:nvSpPr>
        <p:spPr>
          <a:xfrm>
            <a:off x="4808220" y="3348990"/>
            <a:ext cx="859156" cy="1245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ctangle 12"/>
          <p:cNvSpPr/>
          <p:nvPr/>
        </p:nvSpPr>
        <p:spPr>
          <a:xfrm>
            <a:off x="6623687" y="1521532"/>
            <a:ext cx="916304" cy="124452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ctangle 13"/>
          <p:cNvSpPr/>
          <p:nvPr/>
        </p:nvSpPr>
        <p:spPr>
          <a:xfrm>
            <a:off x="6677711" y="3348990"/>
            <a:ext cx="847039" cy="124532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4012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D202D2-7C65-4C1B-BF0E-14B37EF0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0" y="181170"/>
            <a:ext cx="6761100" cy="857400"/>
          </a:xfrm>
        </p:spPr>
        <p:txBody>
          <a:bodyPr/>
          <a:lstStyle/>
          <a:p>
            <a:r>
              <a:rPr lang="it-IT" dirty="0"/>
              <a:t>Curve ROC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6ADE97-0D57-4FB3-9340-07AFB9188A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16</a:t>
            </a:fld>
            <a:endParaRPr lang="it-IT"/>
          </a:p>
        </p:txBody>
      </p:sp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61000235-B042-48C8-B3FA-9351753CF8DD}"/>
              </a:ext>
            </a:extLst>
          </p:cNvPr>
          <p:cNvSpPr txBox="1">
            <a:spLocks/>
          </p:cNvSpPr>
          <p:nvPr/>
        </p:nvSpPr>
        <p:spPr>
          <a:xfrm>
            <a:off x="640231" y="799416"/>
            <a:ext cx="3004639" cy="43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it-IT" sz="1200" dirty="0">
                <a:solidFill>
                  <a:srgbClr val="0B87A1"/>
                </a:solidFill>
                <a:latin typeface="Dosis Light"/>
              </a:rPr>
              <a:t>Albero potato 1 con 3</a:t>
            </a:r>
          </a:p>
        </p:txBody>
      </p:sp>
      <p:sp>
        <p:nvSpPr>
          <p:cNvPr id="20" name="Segnaposto testo 2">
            <a:extLst>
              <a:ext uri="{FF2B5EF4-FFF2-40B4-BE49-F238E27FC236}">
                <a16:creationId xmlns:a16="http://schemas.microsoft.com/office/drawing/2014/main" id="{01E9507E-5538-4F34-A9DB-9C25337064A3}"/>
              </a:ext>
            </a:extLst>
          </p:cNvPr>
          <p:cNvSpPr txBox="1">
            <a:spLocks/>
          </p:cNvSpPr>
          <p:nvPr/>
        </p:nvSpPr>
        <p:spPr>
          <a:xfrm>
            <a:off x="4236045" y="810446"/>
            <a:ext cx="3004639" cy="43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it-IT" sz="1200" dirty="0">
                <a:solidFill>
                  <a:srgbClr val="0B87A1"/>
                </a:solidFill>
                <a:latin typeface="Dosis Light"/>
              </a:rPr>
              <a:t>Albero bilanciato 1 con 3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DAB15AD7-1A76-434B-8AB6-1E780F490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18" y="1195393"/>
            <a:ext cx="7038975" cy="1743075"/>
          </a:xfrm>
          <a:prstGeom prst="rect">
            <a:avLst/>
          </a:prstGeom>
        </p:spPr>
      </p:pic>
      <p:sp>
        <p:nvSpPr>
          <p:cNvPr id="23" name="Segnaposto testo 2">
            <a:extLst>
              <a:ext uri="{FF2B5EF4-FFF2-40B4-BE49-F238E27FC236}">
                <a16:creationId xmlns:a16="http://schemas.microsoft.com/office/drawing/2014/main" id="{5D94E48D-BFE4-472A-92BE-CE7BF5159888}"/>
              </a:ext>
            </a:extLst>
          </p:cNvPr>
          <p:cNvSpPr txBox="1">
            <a:spLocks/>
          </p:cNvSpPr>
          <p:nvPr/>
        </p:nvSpPr>
        <p:spPr>
          <a:xfrm>
            <a:off x="640230" y="2812822"/>
            <a:ext cx="3004639" cy="43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it-IT" sz="1200" dirty="0">
                <a:solidFill>
                  <a:srgbClr val="0B87A1"/>
                </a:solidFill>
                <a:latin typeface="Dosis Light"/>
              </a:rPr>
              <a:t>Albero potato 2 con 3</a:t>
            </a:r>
          </a:p>
        </p:txBody>
      </p:sp>
      <p:sp>
        <p:nvSpPr>
          <p:cNvPr id="25" name="Segnaposto testo 2">
            <a:extLst>
              <a:ext uri="{FF2B5EF4-FFF2-40B4-BE49-F238E27FC236}">
                <a16:creationId xmlns:a16="http://schemas.microsoft.com/office/drawing/2014/main" id="{5B6F77AA-8058-45F4-BE34-0AAB0C6769C5}"/>
              </a:ext>
            </a:extLst>
          </p:cNvPr>
          <p:cNvSpPr txBox="1">
            <a:spLocks/>
          </p:cNvSpPr>
          <p:nvPr/>
        </p:nvSpPr>
        <p:spPr>
          <a:xfrm>
            <a:off x="4236045" y="2836997"/>
            <a:ext cx="3004639" cy="43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it-IT" sz="1200" dirty="0">
                <a:solidFill>
                  <a:srgbClr val="0B87A1"/>
                </a:solidFill>
                <a:latin typeface="Dosis Light"/>
              </a:rPr>
              <a:t>Albero bilanciato 2 con 3</a:t>
            </a: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F79E3FE2-0054-4CB4-A11E-7EE1A6992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05" y="3199751"/>
            <a:ext cx="73098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43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BCA93-9214-4991-A588-D896EE4D6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1" y="207747"/>
            <a:ext cx="6761100" cy="857400"/>
          </a:xfrm>
        </p:spPr>
        <p:txBody>
          <a:bodyPr/>
          <a:lstStyle/>
          <a:p>
            <a:r>
              <a:rPr lang="it-IT" dirty="0"/>
              <a:t>Conclusioni: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291C52-9E78-43C0-BC09-5203EE003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231" y="1137099"/>
            <a:ext cx="6761100" cy="1432175"/>
          </a:xfrm>
        </p:spPr>
        <p:txBody>
          <a:bodyPr/>
          <a:lstStyle/>
          <a:p>
            <a:pPr>
              <a:buClr>
                <a:srgbClr val="0A859F"/>
              </a:buClr>
            </a:pPr>
            <a:r>
              <a:rPr lang="it-IT" dirty="0"/>
              <a:t>Scelta dell’</a:t>
            </a:r>
            <a:r>
              <a:rPr lang="it-IT" b="1" dirty="0" err="1"/>
              <a:t>undersampling</a:t>
            </a:r>
            <a:r>
              <a:rPr lang="it-IT" dirty="0"/>
              <a:t> per bilanciare</a:t>
            </a:r>
          </a:p>
          <a:p>
            <a:pPr>
              <a:buClr>
                <a:srgbClr val="0A859F"/>
              </a:buClr>
            </a:pPr>
            <a:r>
              <a:rPr lang="it-IT" dirty="0"/>
              <a:t>Gli alberi di classificazione performanti</a:t>
            </a:r>
          </a:p>
          <a:p>
            <a:pPr>
              <a:buClr>
                <a:srgbClr val="0A859F"/>
              </a:buClr>
            </a:pPr>
            <a:r>
              <a:rPr lang="it-IT" dirty="0"/>
              <a:t>Il modello migliore è: </a:t>
            </a:r>
            <a:r>
              <a:rPr lang="it-IT" b="1" dirty="0"/>
              <a:t>albero non potato con tecnica di </a:t>
            </a:r>
            <a:r>
              <a:rPr lang="it-IT" b="1" dirty="0" err="1"/>
              <a:t>undersampling</a:t>
            </a:r>
            <a:endParaRPr lang="it-IT" b="1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5BA13CE-0946-44AB-8783-2DA826A96B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17</a:t>
            </a:fld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257D1EAE-FC23-4373-9CBA-C294CBE2C77D}"/>
              </a:ext>
            </a:extLst>
          </p:cNvPr>
          <p:cNvSpPr txBox="1">
            <a:spLocks/>
          </p:cNvSpPr>
          <p:nvPr/>
        </p:nvSpPr>
        <p:spPr>
          <a:xfrm>
            <a:off x="640231" y="2929663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 b="0" i="0" u="none" strike="noStrike" cap="none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 b="0" i="0" u="none" strike="noStrike" cap="none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 b="0" i="0" u="none" strike="noStrike" cap="none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 b="0" i="0" u="none" strike="noStrike" cap="none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 b="0" i="0" u="none" strike="noStrike" cap="none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 b="0" i="0" u="none" strike="noStrike" cap="none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 b="0" i="0" u="none" strike="noStrike" cap="none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 b="0" i="0" u="none" strike="noStrike" cap="none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 b="0" i="0" u="none" strike="noStrike" cap="none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 lang="it-IT" dirty="0"/>
          </a:p>
          <a:p>
            <a:endParaRPr lang="it-IT" dirty="0"/>
          </a:p>
          <a:p>
            <a:r>
              <a:rPr lang="it-IT" dirty="0"/>
              <a:t>Proposte future:</a:t>
            </a:r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8BC8356B-8391-4074-8A3B-36786CAFA0B2}"/>
              </a:ext>
            </a:extLst>
          </p:cNvPr>
          <p:cNvSpPr txBox="1">
            <a:spLocks/>
          </p:cNvSpPr>
          <p:nvPr/>
        </p:nvSpPr>
        <p:spPr>
          <a:xfrm>
            <a:off x="640231" y="3711325"/>
            <a:ext cx="6761100" cy="143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>
              <a:buClr>
                <a:srgbClr val="0A859F"/>
              </a:buClr>
            </a:pPr>
            <a:r>
              <a:rPr lang="it-IT" dirty="0"/>
              <a:t>Ampliare l’analisi del confronto a coppie</a:t>
            </a:r>
          </a:p>
          <a:p>
            <a:pPr>
              <a:buClr>
                <a:srgbClr val="0A859F"/>
              </a:buClr>
            </a:pPr>
            <a:r>
              <a:rPr lang="it-IT" dirty="0"/>
              <a:t>Trattamento degli </a:t>
            </a:r>
            <a:r>
              <a:rPr lang="it-IT" dirty="0" err="1"/>
              <a:t>outliers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2417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8" name="Shape 4038"/>
          <p:cNvSpPr txBox="1">
            <a:spLocks noGrp="1"/>
          </p:cNvSpPr>
          <p:nvPr>
            <p:ph type="ctrTitle" idx="4294967295"/>
          </p:nvPr>
        </p:nvSpPr>
        <p:spPr>
          <a:xfrm>
            <a:off x="2488557" y="2214640"/>
            <a:ext cx="4166886" cy="7142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500" b="1" dirty="0">
                <a:solidFill>
                  <a:srgbClr val="80BFB7"/>
                </a:solidFill>
              </a:rPr>
              <a:t>Grazie per l’attenzione</a:t>
            </a:r>
            <a:endParaRPr sz="3500" b="1" dirty="0">
              <a:solidFill>
                <a:srgbClr val="80BFB7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0" y="87465"/>
            <a:ext cx="836465" cy="905919"/>
          </a:xfrm>
          <a:prstGeom prst="rect">
            <a:avLst/>
          </a:prstGeom>
        </p:spPr>
      </p:pic>
      <p:sp>
        <p:nvSpPr>
          <p:cNvPr id="6" name="Shape 4040"/>
          <p:cNvSpPr txBox="1">
            <a:spLocks/>
          </p:cNvSpPr>
          <p:nvPr/>
        </p:nvSpPr>
        <p:spPr>
          <a:xfrm>
            <a:off x="0" y="4599611"/>
            <a:ext cx="2419109" cy="54388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ClrTx/>
              <a:buFont typeface="Arial" panose="020B0604020202020204" pitchFamily="34" charset="0"/>
              <a:buNone/>
            </a:pPr>
            <a:r>
              <a:rPr lang="it-IT" sz="1800" dirty="0">
                <a:solidFill>
                  <a:srgbClr val="D3EBD5"/>
                </a:solidFill>
              </a:rPr>
              <a:t>Statistica Multivariata	</a:t>
            </a:r>
          </a:p>
        </p:txBody>
      </p:sp>
    </p:spTree>
    <p:extLst>
      <p:ext uri="{BB962C8B-B14F-4D97-AF65-F5344CB8AC3E}">
        <p14:creationId xmlns:p14="http://schemas.microsoft.com/office/powerpoint/2010/main" val="347777990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342</Words>
  <Application>Microsoft Office PowerPoint</Application>
  <PresentationFormat>Presentazione su schermo (16:9)</PresentationFormat>
  <Paragraphs>112</Paragraphs>
  <Slides>18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18</vt:i4>
      </vt:variant>
    </vt:vector>
  </HeadingPairs>
  <TitlesOfParts>
    <vt:vector size="27" baseType="lpstr">
      <vt:lpstr>Dosis Light</vt:lpstr>
      <vt:lpstr>Titillium Web Light</vt:lpstr>
      <vt:lpstr>Dubai Light</vt:lpstr>
      <vt:lpstr>Calibri Light</vt:lpstr>
      <vt:lpstr>Wingdings</vt:lpstr>
      <vt:lpstr>Arial</vt:lpstr>
      <vt:lpstr>Calibri</vt:lpstr>
      <vt:lpstr>Mowbray template</vt:lpstr>
      <vt:lpstr>Tema di Office</vt:lpstr>
      <vt:lpstr>Presentazione standard di PowerPoint</vt:lpstr>
      <vt:lpstr>Presentazione della patologia</vt:lpstr>
      <vt:lpstr>Obiettivo</vt:lpstr>
      <vt:lpstr>Descrizione del dataset </vt:lpstr>
      <vt:lpstr>Analisi descrittive ed esplorative </vt:lpstr>
      <vt:lpstr>Modelli implementati </vt:lpstr>
      <vt:lpstr>Risultati sul dataset  non bilanciato</vt:lpstr>
      <vt:lpstr>Analisi discriminante quadratica </vt:lpstr>
      <vt:lpstr>Analisi discriminante quadratica </vt:lpstr>
      <vt:lpstr>Albero di classificazione </vt:lpstr>
      <vt:lpstr>Risultati sul dataset  bilanciato</vt:lpstr>
      <vt:lpstr>Tecniche di bilanciamento </vt:lpstr>
      <vt:lpstr>Risultati</vt:lpstr>
      <vt:lpstr>Risultati sul  confronto a coppie</vt:lpstr>
      <vt:lpstr>Risultati</vt:lpstr>
      <vt:lpstr>Curve ROC</vt:lpstr>
      <vt:lpstr>Conclusioni: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Elena</dc:creator>
  <cp:lastModifiedBy>elena viganò</cp:lastModifiedBy>
  <cp:revision>65</cp:revision>
  <dcterms:modified xsi:type="dcterms:W3CDTF">2018-06-27T11:30:25Z</dcterms:modified>
</cp:coreProperties>
</file>